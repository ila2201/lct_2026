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365" r:id="rId2"/>
    <p:sldId id="366" r:id="rId3"/>
    <p:sldId id="362" r:id="rId4"/>
    <p:sldId id="364" r:id="rId5"/>
    <p:sldId id="375" r:id="rId6"/>
    <p:sldId id="268" r:id="rId7"/>
    <p:sldId id="260" r:id="rId8"/>
    <p:sldId id="271" r:id="rId9"/>
    <p:sldId id="267" r:id="rId10"/>
    <p:sldId id="262" r:id="rId11"/>
    <p:sldId id="371" r:id="rId12"/>
    <p:sldId id="272" r:id="rId13"/>
    <p:sldId id="373" r:id="rId14"/>
    <p:sldId id="374" r:id="rId15"/>
    <p:sldId id="370" r:id="rId1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  <p14:sldId id="268"/>
            <p14:sldId id="260"/>
            <p14:sldId id="271"/>
            <p14:sldId id="267"/>
            <p14:sldId id="262"/>
            <p14:sldId id="371"/>
            <p14:sldId id="272"/>
            <p14:sldId id="373"/>
            <p14:sldId id="374"/>
            <p14:sldId id="370"/>
          </p14:sldIdLst>
        </p14:section>
        <p14:section name="Шаблоны слайдов" id="{24401F80-F81B-49C3-8D55-70A14F0BF8FF}">
          <p14:sldIdLst/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28.09.2026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28.09.2026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28.09.2026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28.09.2026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ПИТОМЕЦ ФИННИ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7112000" cy="757174"/>
          </a:xfrm>
        </p:spPr>
        <p:txBody>
          <a:bodyPr wrap="square" anchor="ctr">
            <a:normAutofit/>
          </a:bodyPr>
          <a:lstStyle/>
          <a:p>
            <a:pPr marL="190500" indent="0"/>
            <a:r>
              <a:rPr lang="ru-RU" b="1"/>
              <a:t>Команда CyberCats</a:t>
            </a:r>
            <a:br>
              <a:rPr lang="ru-RU"/>
            </a:br>
            <a:r>
              <a:rPr lang="ru-RU"/>
              <a:t>Игровое приложение, которое учит детей от 7 до 11 лет обращаться с карманными деньгами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Image 3" descr=" ">
            <a:extLst>
              <a:ext uri="{FF2B5EF4-FFF2-40B4-BE49-F238E27FC236}">
                <a16:creationId xmlns:a16="http://schemas.microsoft.com/office/drawing/2014/main" id="{C45DE98A-BE3C-4E4D-A3C3-79E1349CC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08000"/>
            <a:ext cx="186247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>
                <a:solidFill>
                  <a:schemeClr val="tx1"/>
                </a:solidFill>
              </a:rPr>
              <a:t>План недели работает как правило, а итоги сравнивают план с фактом. Питомец растёт только от серии хороших недель. В игровом телефоне ребёнок учится замечать мошенников. Ошибка ничего не ломает, а объясняет, что пошло не так.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> Абушаев Даниил Русланович, нейронные сети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> 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  <a:r>
              <a:rPr lang="ru-RU">
                <a:solidFill>
                  <a:schemeClr val="tx1"/>
                </a:solidFill>
              </a:rPr>
              <a:t> аналитик требований, разработчик интерфейсов и специалист по нейросетям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> Самара, Самарская область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Питомец Финни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>
                <a:solidFill>
                  <a:schemeClr val="tx1"/>
                </a:solidFill>
              </a:rPr>
              <a:t>Игра для Android и браузера. Ребёнок заботится о питомце на игровые монетки: каждую неделю делит доход на нужное, желаемое и копилку, покупает, копит на цель и решает задания. От его решений зависят настроение и рост питомца.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3D2BAE0-344C-4DF8-B233-DEDE6F8ACEB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191000"/>
            <a:ext cx="1894354" cy="1905000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Капитан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Нейронные сети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Самара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505200"/>
            <a:ext cx="1905000" cy="5588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200" b="1">
                <a:solidFill>
                  <a:schemeClr val="accent5"/>
                </a:solidFill>
              </a:rPr>
              <a:t>Абушаев</a:t>
            </a:r>
          </a:p>
          <a:p>
            <a:pPr marL="0" indent="0">
              <a:buNone/>
            </a:pPr>
            <a:r>
              <a:rPr lang="ru-RU" sz="1200" b="1">
                <a:solidFill>
                  <a:schemeClr val="accent5"/>
                </a:solidFill>
              </a:rPr>
              <a:t>Даниил Русланович</a:t>
            </a:r>
            <a:endParaRPr lang="ru-RU" sz="1200" b="1" dirty="0">
              <a:solidFill>
                <a:schemeClr val="accent5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191000"/>
            <a:ext cx="1894354" cy="1905000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Адаптивная вёрстка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 ПО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Самара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505200"/>
            <a:ext cx="1905000" cy="5588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200" b="1">
                <a:solidFill>
                  <a:schemeClr val="accent5"/>
                </a:solidFill>
              </a:rPr>
              <a:t>Турнаев</a:t>
            </a:r>
          </a:p>
          <a:p>
            <a:pPr marL="0" indent="0">
              <a:buNone/>
            </a:pPr>
            <a:r>
              <a:rPr lang="ru-RU" sz="1200" b="1">
                <a:solidFill>
                  <a:schemeClr val="accent5"/>
                </a:solidFill>
              </a:rPr>
              <a:t>Александр Дмитриевич</a:t>
            </a:r>
            <a:endParaRPr lang="ru-RU" sz="1200" b="1" dirty="0">
              <a:solidFill>
                <a:schemeClr val="accent5"/>
              </a:solidFill>
            </a:endParaRP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191000"/>
            <a:ext cx="1894354" cy="1905000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Анализ требований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Бизнес-анализ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Системный анализ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Самара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505200"/>
            <a:ext cx="1905000" cy="5588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200" b="1">
                <a:solidFill>
                  <a:schemeClr val="accent5"/>
                </a:solidFill>
              </a:rPr>
              <a:t>Чернов</a:t>
            </a:r>
          </a:p>
          <a:p>
            <a:pPr marL="0" indent="0">
              <a:buNone/>
            </a:pPr>
            <a:r>
              <a:rPr lang="ru-RU" sz="1200" b="1">
                <a:solidFill>
                  <a:schemeClr val="accent5"/>
                </a:solidFill>
              </a:rPr>
              <a:t>Илья Александрович</a:t>
            </a:r>
            <a:endParaRPr lang="ru-RU" sz="1200" b="1" dirty="0">
              <a:solidFill>
                <a:schemeClr val="accent5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7624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КОМАНДА </a:t>
            </a:r>
            <a:r>
              <a:rPr lang="en-US">
                <a:latin typeface="+mn-lt"/>
              </a:rPr>
              <a:t>CYBERCATS</a:t>
            </a:r>
            <a:endParaRPr lang="ru-RU" dirty="0">
              <a:latin typeface="+mn-lt"/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58C6CF8A-4714-485E-8713-A871AC8347D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C6CCA80-0B10-465C-A139-A94B1169B00B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467" y="1826554"/>
            <a:ext cx="1722566" cy="1542401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8AAAE22-54D3-4208-A809-E2279BDE5DD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1784" y="1809238"/>
            <a:ext cx="1722567" cy="1559717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04C9BA6-0776-44AC-915D-46473C951850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0208" y="1809238"/>
            <a:ext cx="1722567" cy="1559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81128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О КОМАНДЕ И ЗАДАЧЕ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Мы из Самары. У каждого своя сильная сторона: анализ требований, интерфейсы и нейросети. На хакатоне это позволило вести продукт, код и документацию параллельно.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Баланс экономики: монеток должно хватать на нужное, но не на всё сразу. Тексты: объяснять последствия без страха и стыда. Качество: 73 автотеста и прогон всего сценария на экране 360 dp.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Задача про детей и деньги понятна каждому. Хотелось сделать игру, где ребёнок сам принимает решение и сразу видит, к чему оно привело, а ошибка не наказывает, а учит.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Один код на HTML, CSS и JavaScript для браузера и Android</a:t>
            </a:r>
          </a:p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APK собирается через Capacitor 8, работает на Android 8.0 и выше</a:t>
            </a:r>
          </a:p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Данные только на устройстве: без сервера, регистрации и интернета</a:t>
            </a:r>
          </a:p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Учебный контент в JSON: новое задание без правки кода</a:t>
            </a:r>
            <a:endParaRPr lang="ru-RU" sz="15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Бесплатное просветительское приложение для семей и школ</a:t>
            </a:r>
          </a:p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Готово к RuStore: пакет ru.finnypet.app, подписанный APK</a:t>
            </a:r>
          </a:p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Раздел для взрослых помогает обсуждать с ребёнком итоги недели</a:t>
            </a:r>
          </a:p>
          <a:p>
            <a:pPr>
              <a:spcAft>
                <a:spcPts val="1000"/>
              </a:spcAft>
            </a:pPr>
            <a:r>
              <a:rPr lang="ru-RU" sz="1500">
                <a:solidFill>
                  <a:schemeClr val="tx1"/>
                </a:solidFill>
              </a:rPr>
              <a:t>Дальше: пилот в школах, новые темы, озвучка текстов</a:t>
            </a:r>
            <a:endParaRPr lang="ru-RU" sz="15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99168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Проблема</a:t>
            </a:r>
          </a:p>
          <a:p>
            <a:r>
              <a:rPr lang="ru-RU">
                <a:solidFill>
                  <a:schemeClr val="tx1"/>
                </a:solidFill>
              </a:rPr>
              <a:t>Дети получают карманные деньги раньше, чем учатся ими распоряжаться. Объяснения про доходы и расходы быстро утомляют.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Пользователи</a:t>
            </a:r>
          </a:p>
          <a:p>
            <a:r>
              <a:rPr lang="ru-RU">
                <a:solidFill>
                  <a:schemeClr val="tx1"/>
                </a:solidFill>
              </a:rPr>
              <a:t>Дети 7–11 лет, которые читают короткие фразы и считают в пределах сотни. Взрослый поддерживает, но не решает за ребёнка.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Решение</a:t>
            </a:r>
          </a:p>
          <a:p>
            <a:r>
              <a:rPr lang="ru-RU">
                <a:solidFill>
                  <a:schemeClr val="tx1"/>
                </a:solidFill>
              </a:rPr>
              <a:t>Виртуальный питомец: от того, как ребёнок распределит монетки, зависят его настроение и рост.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50298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Бюджет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План недели до покупок, кошелёк не уходит в минус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Нужное и желаемое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Еда и уход каждую неделю, игрушки подождут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Выбор при ограничении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Товаров на 275 монеток при доходе 100 в неделю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Цель и накопления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Копилка отдельно от кошелька, срок до цели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Оценка решений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Итоги недели: план и факт, звёзды, совет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Вместе со взрослым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Раздел для взрослых: темы, прогресс, бонус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ОБРАЗОВАТЕЛЬНЫЕ РЕЗУЛЬТАТЫ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53FA016-B8F4-4D9C-A889-0AC16506EA4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872" y="1235915"/>
            <a:ext cx="2172255" cy="4602697"/>
          </a:xfrm>
          <a:prstGeom prst="rect">
            <a:avLst/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332969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Решение сразу видно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Купил еду, сытость выросла. Забыл про уход, питомец жалуется и просит помочь.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Ошибка не страшна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Питомец не болеет и не пропадает. Звёзды роста не сгорают, неделю можно исправить.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Рост за серию недель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Малыш, Подросток, Взрослый: стадия меняется только после нескольких хороших недель.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Забота вместо оценок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Нет рейтингов и таймеров. Мотивация идёт от желания позаботиться о своём питомце.</a:t>
            </a: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ПОЧЕМУ ПИТОМЕЦ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740859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Знакомство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Три коротких экрана, питомец: вид, пол, цвет, имя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Решения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Покупки, задания, копилка и сообщения в телефоне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Рост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Новая неделя. Стадия меняется после серии недель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План недели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+100 монеток, ползунки: нужное, хочу, копилка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normAutofit/>
          </a:bodyPr>
          <a:lstStyle/>
          <a:p>
            <a:r>
              <a:rPr lang="ru-RU" b="0">
                <a:solidFill>
                  <a:schemeClr val="accent5"/>
                </a:solidFill>
              </a:rPr>
              <a:t>Итоги недели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План и факт, до 3 звёзд, реакция питомца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ПУТЬ ПОЛЬЗОВАТЕЛЯ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8532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Доход: +100 в неделю, задания +15 и +20, бонус взрослого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План: сумма трёх частей не больше кошелька, шаг 5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Покупка: только если хватает монеток, сверх плана с предупреждением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Копилка: срок до цели = остаток / среднее пополнение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Звёзды: нужное, план, копилка. Подросток с 5, Взрослый с 10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ИГРОВАЯ ЭКОНОМИКА</a:t>
            </a:r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5540A62-4463-45BB-8070-1EBB155EDB2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97" y="1473200"/>
            <a:ext cx="4364006" cy="463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85992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Бюджет и покупки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План ползунками. 12 товаров двух типов. В магазине видно остаток по плану, перед тратой сверх плана появляется предупреждение.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Копилка и цели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Три цели и своя. Пополнение, снятие только после подтверждения, срок до цели.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Задания и телефон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9 заданий по 3 темам, 6 видов механик. 6 переписок, из них 3 с мошенниками.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rgbClr val="F92571"/>
                </a:solidFill>
              </a:rPr>
              <a:t>Границы прототипа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Нет реальных денег, рекламы, покупок и сервера. Нет регистрации и персональных данных. Работает без интернета.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ФУНКЦИИ И ГРАНИЦЫ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FBB63B91-423A-42B2-8A94-643F2329AC6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1936" y="1120110"/>
            <a:ext cx="1726214" cy="365760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88A5B92-D9DA-4C03-AF81-BC299390327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2863" y="1144729"/>
            <a:ext cx="1726214" cy="36576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E853AD9C-065D-4293-B076-1CB40E771435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385" y="1139854"/>
            <a:ext cx="1726214" cy="36576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344C092-5CDA-44C7-832C-317F0A971FD3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95" y="1139854"/>
            <a:ext cx="1726214" cy="3657600"/>
          </a:xfrm>
          <a:prstGeom prst="rect">
            <a:avLst/>
          </a:prstGeom>
        </p:spPr>
      </p:pic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59493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accent5"/>
                </a:solidFill>
                <a:latin typeface="+mj-lt"/>
              </a:rPr>
              <a:t>План ползунками</a:t>
            </a:r>
          </a:p>
          <a:p>
            <a:r>
              <a:rPr lang="ru-RU">
                <a:solidFill>
                  <a:schemeClr val="accent5"/>
                </a:solidFill>
                <a:latin typeface="+mj-lt"/>
              </a:rPr>
              <a:t>Шаг 5, остаток виден сразу, кнопки от 48 dp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accent5"/>
                </a:solidFill>
                <a:latin typeface="+mj-lt"/>
              </a:rPr>
              <a:t>Стоп перед тратой</a:t>
            </a:r>
          </a:p>
          <a:p>
            <a:r>
              <a:rPr lang="ru-RU">
                <a:solidFill>
                  <a:schemeClr val="accent5"/>
                </a:solidFill>
                <a:latin typeface="+mj-lt"/>
              </a:rPr>
              <a:t>Покупка сверх плана: объяснение и выбор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accent5"/>
                </a:solidFill>
                <a:latin typeface="+mj-lt"/>
              </a:rPr>
              <a:t>Питомец просит помощи</a:t>
            </a:r>
          </a:p>
          <a:p>
            <a:r>
              <a:rPr lang="ru-RU">
                <a:solidFill>
                  <a:schemeClr val="accent5"/>
                </a:solidFill>
                <a:latin typeface="+mj-lt"/>
              </a:rPr>
              <a:t>Что не так и где это исправить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accent5"/>
                </a:solidFill>
                <a:latin typeface="+mj-lt"/>
              </a:rPr>
              <a:t>Игровой телефон</a:t>
            </a:r>
          </a:p>
          <a:p>
            <a:r>
              <a:rPr lang="ru-RU">
                <a:solidFill>
                  <a:schemeClr val="accent5"/>
                </a:solidFill>
                <a:latin typeface="+mj-lt"/>
              </a:rPr>
              <a:t>Разбор обмана после каждого разговора</a:t>
            </a: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КЛЮЧЕВЫЕ </a:t>
            </a:r>
            <a:r>
              <a:rPr lang="en-US"/>
              <a:t>UX/UI </a:t>
            </a:r>
            <a:r>
              <a:rPr lang="ru-RU"/>
              <a:t>РЕШЕНИЯ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wrap="square">
            <a:normAutofit/>
          </a:bodyPr>
          <a:lstStyle/>
          <a:p>
            <a:r>
              <a:rPr lang="ru-RU" sz="2000">
                <a:solidFill>
                  <a:schemeClr val="accent5"/>
                </a:solidFill>
              </a:rPr>
              <a:t>АРХИТЕКТУРА И СТЕК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>
            <a:normAutofit/>
          </a:bodyPr>
          <a:lstStyle/>
          <a:p>
            <a:pPr>
              <a:spcAft>
                <a:spcPts val="900"/>
              </a:spcAft>
            </a:pPr>
            <a:r>
              <a:rPr lang="ru-RU">
                <a:solidFill>
                  <a:schemeClr val="tx1"/>
                </a:solidFill>
              </a:rPr>
              <a:t>Стек: HTML, CSS и JavaScript без фреймворков, Capacitor 8 для Android</a:t>
            </a:r>
          </a:p>
          <a:p>
            <a:pPr>
              <a:spcAft>
                <a:spcPts val="900"/>
              </a:spcAft>
            </a:pPr>
            <a:r>
              <a:rPr lang="ru-RU">
                <a:solidFill>
                  <a:schemeClr val="tx1"/>
                </a:solidFill>
              </a:rPr>
              <a:t>Логика игры в game.js отделена от экранов и покрыта тестами</a:t>
            </a:r>
          </a:p>
          <a:p>
            <a:pPr>
              <a:spcAft>
                <a:spcPts val="900"/>
              </a:spcAft>
            </a:pPr>
            <a:r>
              <a:rPr lang="ru-RU">
                <a:solidFill>
                  <a:schemeClr val="tx1"/>
                </a:solidFill>
              </a:rPr>
              <a:t>Контент в 8 файлах JSON: задания, товары, цели, переписки</a:t>
            </a:r>
          </a:p>
          <a:p>
            <a:pPr>
              <a:spcAft>
                <a:spcPts val="900"/>
              </a:spcAft>
            </a:pPr>
            <a:r>
              <a:rPr lang="ru-RU">
                <a:solidFill>
                  <a:schemeClr val="tx1"/>
                </a:solidFill>
              </a:rPr>
              <a:t>Хранение в localStorage на устройстве, сохранение после каждого действия</a:t>
            </a:r>
          </a:p>
          <a:p>
            <a:pPr>
              <a:spcAft>
                <a:spcPts val="900"/>
              </a:spcAft>
            </a:pPr>
            <a:r>
              <a:rPr lang="ru-RU">
                <a:solidFill>
                  <a:schemeClr val="tx1"/>
                </a:solidFill>
              </a:rPr>
              <a:t>Android 8.0+, одно разрешение INTERNET для WebView, внешних запросов нет</a:t>
            </a:r>
          </a:p>
          <a:p>
            <a:pPr>
              <a:spcAft>
                <a:spcPts val="900"/>
              </a:spcAft>
            </a:pPr>
            <a:r>
              <a:rPr lang="ru-RU">
                <a:solidFill>
                  <a:schemeClr val="tx1"/>
                </a:solidFill>
              </a:rPr>
              <a:t>Веб-версия из той же папки, работает офлайн через service worker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1D511385-8860-4983-AE55-ADDFC079106D}"/>
              </a:ext>
            </a:extLst>
          </p:cNvPr>
          <p:cNvSpPr/>
          <p:nvPr/>
        </p:nvSpPr>
        <p:spPr>
          <a:xfrm>
            <a:off x="6350000" y="889000"/>
            <a:ext cx="5461000" cy="5080000"/>
          </a:xfrm>
          <a:prstGeom prst="roundRect">
            <a:avLst>
              <a:gd name="adj" fmla="val 6000"/>
            </a:avLst>
          </a:prstGeom>
          <a:solidFill>
            <a:srgbClr val="FFFFFF">
              <a:alpha val="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bg1">
                    <a:alpha val="47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D8CD8B7-DEF8-4514-8700-B7A16261E83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400" y="1572087"/>
            <a:ext cx="5156200" cy="3713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 wrap="square">
            <a:normAutofit/>
          </a:bodyPr>
          <a:lstStyle/>
          <a:p>
            <a:r>
              <a:rPr lang="ru-RU" sz="1800">
                <a:solidFill>
                  <a:srgbClr val="F92571"/>
                </a:solidFill>
              </a:rPr>
              <a:t>Тестирование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73 автотеста логики и контента. Сквозной сценарий на 5 недель в Chrome на экране 360 dp без ошибок. Подпись APK проверена apksigner.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 wrap="square">
            <a:normAutofit/>
          </a:bodyPr>
          <a:lstStyle/>
          <a:p>
            <a:r>
              <a:rPr lang="ru-RU" sz="1800">
                <a:solidFill>
                  <a:srgbClr val="F92571"/>
                </a:solidFill>
              </a:rPr>
              <a:t>Ограничения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Один профиль на устройство. Данные пропадут при очистке данных приложения. Нет озвучки текстов. Проверка на физических устройствах продолжается.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 wrap="square">
            <a:normAutofit/>
          </a:bodyPr>
          <a:lstStyle/>
          <a:p>
            <a:r>
              <a:rPr lang="ru-RU" sz="1800">
                <a:solidFill>
                  <a:srgbClr val="F92571"/>
                </a:solidFill>
              </a:rPr>
              <a:t>Планы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 wrap="square">
            <a:normAutofit/>
          </a:bodyPr>
          <a:lstStyle/>
          <a:p>
            <a:r>
              <a:rPr lang="ru-RU">
                <a:solidFill>
                  <a:schemeClr val="tx1"/>
                </a:solidFill>
              </a:rPr>
              <a:t>Публикация в RuStore. Новые темы: долг, безопасные платежи, подарки. Озвучка для младших, несколько профилей, пилот в школах.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ТЕСТЫ, ОГРАНИЧЕНИЯ, ПЛАНЫ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ССЫЛКИ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7112000" cy="712587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Репозиторий: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github.com/</a:t>
            </a:r>
            <a:r>
              <a:rPr lang="ru-RU">
                <a:solidFill>
                  <a:schemeClr val="tx1"/>
                </a:solidFill>
              </a:rPr>
              <a:t>АККАУНТ/</a:t>
            </a:r>
            <a:r>
              <a:rPr lang="en-US">
                <a:solidFill>
                  <a:schemeClr val="tx1"/>
                </a:solidFill>
              </a:rPr>
              <a:t>finny-pet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7112000" cy="712587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Прототип в браузере:</a:t>
            </a:r>
            <a:r>
              <a:rPr lang="ru-RU">
                <a:solidFill>
                  <a:schemeClr val="tx1"/>
                </a:solidFill>
              </a:rPr>
              <a:t> АККАУНТ.</a:t>
            </a:r>
            <a:r>
              <a:rPr lang="en-US">
                <a:solidFill>
                  <a:schemeClr val="tx1"/>
                </a:solidFill>
              </a:rPr>
              <a:t>github.io/finny-pet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7112000" cy="712587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APK:</a:t>
            </a:r>
            <a:r>
              <a:rPr lang="ru-RU">
                <a:solidFill>
                  <a:schemeClr val="tx1"/>
                </a:solidFill>
              </a:rPr>
              <a:t> раздел Releases в репозитории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7112000" cy="712587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Документация:</a:t>
            </a:r>
            <a:r>
              <a:rPr lang="ru-RU">
                <a:solidFill>
                  <a:schemeClr val="tx1"/>
                </a:solidFill>
              </a:rPr>
              <a:t> README.md и docs/Документация.pdf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7112000" cy="712587"/>
          </a:xfrm>
        </p:spPr>
        <p:txBody>
          <a:bodyPr wrap="square">
            <a:normAutofit/>
          </a:bodyPr>
          <a:lstStyle/>
          <a:p>
            <a:r>
              <a:rPr lang="ru-RU" b="1">
                <a:solidFill>
                  <a:schemeClr val="tx1"/>
                </a:solidFill>
              </a:rPr>
              <a:t>Видеодемонстрация: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docs/demo.mp4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7493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7493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7493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7493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7493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FDBA9E3-99FF-44AB-B0D1-1B2B32C674A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0" y="1905000"/>
            <a:ext cx="27940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1113</Words>
  <Application>Microsoft Office PowerPoint</Application>
  <PresentationFormat>Широкоэкранный</PresentationFormat>
  <Paragraphs>169</Paragraphs>
  <Slides>15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Calibri</vt:lpstr>
      <vt:lpstr>Montserrat</vt:lpstr>
      <vt:lpstr>Wingdings</vt:lpstr>
      <vt:lpstr>Для Академия инноваторов 16_9</vt:lpstr>
      <vt:lpstr>ПИТОМЕЦ ФИННИ</vt:lpstr>
      <vt:lpstr>Питомец Финни</vt:lpstr>
      <vt:lpstr>КОМАНДА CYBERCATS</vt:lpstr>
      <vt:lpstr>О КОМАНДЕ И ЗАДАЧЕ</vt:lpstr>
      <vt:lpstr>КОРОТКО О РЕШЕНИИ</vt:lpstr>
      <vt:lpstr>ПРОБЛЕМА И РЕШЕНИЕ</vt:lpstr>
      <vt:lpstr>ОБРАЗОВАТЕЛЬНЫЕ РЕЗУЛЬТАТЫ</vt:lpstr>
      <vt:lpstr>ПОЧЕМУ ПИТОМЕЦ</vt:lpstr>
      <vt:lpstr>ПУТЬ ПОЛЬЗОВАТЕЛЯ</vt:lpstr>
      <vt:lpstr>ИГРОВАЯ ЭКОНОМИКА</vt:lpstr>
      <vt:lpstr>ФУНКЦИИ И ГРАНИЦЫ</vt:lpstr>
      <vt:lpstr>КЛЮЧЕВЫЕ UX/UI РЕШЕНИЯ</vt:lpstr>
      <vt:lpstr>АРХИТЕКТУРА И СТЕК</vt:lpstr>
      <vt:lpstr>ТЕСТЫ, ОГРАНИЧЕНИЯ, ПЛАНЫ</vt:lpstr>
      <vt:lpstr>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Илья</cp:lastModifiedBy>
  <cp:revision>96</cp:revision>
  <dcterms:created xsi:type="dcterms:W3CDTF">2023-05-15T07:36:23Z</dcterms:created>
  <dcterms:modified xsi:type="dcterms:W3CDTF">2026-09-28T16:38:40Z</dcterms:modified>
</cp:coreProperties>
</file>