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365" r:id="rId2"/>
    <p:sldId id="366" r:id="rId3"/>
    <p:sldId id="362" r:id="rId4"/>
    <p:sldId id="364" r:id="rId5"/>
    <p:sldId id="375" r:id="rId6"/>
    <p:sldId id="268" r:id="rId7"/>
    <p:sldId id="260" r:id="rId8"/>
    <p:sldId id="271" r:id="rId9"/>
    <p:sldId id="267" r:id="rId10"/>
    <p:sldId id="262" r:id="rId11"/>
    <p:sldId id="371" r:id="rId12"/>
    <p:sldId id="272" r:id="rId13"/>
    <p:sldId id="373" r:id="rId14"/>
    <p:sldId id="374" r:id="rId15"/>
    <p:sldId id="370" r:id="rId16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/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  <p14:sldId id="268"/>
            <p14:sldId id="260"/>
            <p14:sldId id="271"/>
            <p14:sldId id="267"/>
            <p14:sldId id="262"/>
            <p14:sldId id="371"/>
            <p14:sldId id="272"/>
            <p14:sldId id="373"/>
            <p14:sldId id="374"/>
            <p14:sldId id="370"/>
          </p14:sldIdLst>
        </p14:section>
        <p14:section name="Шаблоны слайдов" id="{24401F80-F81B-49C3-8D55-70A14F0BF8FF}">
          <p14:sldIdLst/>
        </p14:section>
        <p14:section name="Материалы" id="{0F84D0DE-CEB1-417E-B269-8B3EB04B5FA6}">
          <p14:sldIdLst/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479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28.09.2026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28.09.2026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28.09.2026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28.09.2026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28.09.2026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28.09.2026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rPr lang="ru-RU" sz="4800"/>
              <a:t>ПИТОМЕЦ ФИННИ</a:t>
            </a:r>
            <a:endParaRPr lang="ru-RU" sz="48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7112000" cy="757174"/>
          </a:xfrm>
        </p:spPr>
        <p:txBody>
          <a:bodyPr wrap="square" anchor="ctr">
            <a:normAutofit/>
          </a:bodyPr>
          <a:lstStyle/>
          <a:p>
            <a:pPr marL="190500" indent="0"/>
            <a:r>
              <a:rPr lang="ru-RU" b="1"/>
              <a:t>Команда CyberCats</a:t>
            </a:r>
            <a:br>
              <a:rPr lang="ru-RU"/>
            </a:br>
            <a:r>
              <a:rPr lang="ru-RU"/>
              <a:t>Игровое приложение, которое учит детей от 7 до 11 лет обращаться с карманными деньгами</a:t>
            </a:r>
            <a:endParaRPr lang="ru-RU" dirty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6" name="Image 3" descr=" ">
            <a:extLst>
              <a:ext uri="{FF2B5EF4-FFF2-40B4-BE49-F238E27FC236}">
                <a16:creationId xmlns:a16="http://schemas.microsoft.com/office/drawing/2014/main" id="{C45DE98A-BE3C-4E4D-A3C3-79E1349CC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508000"/>
            <a:ext cx="186247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>
                <a:solidFill>
                  <a:schemeClr val="tx1"/>
                </a:solidFill>
              </a:rPr>
              <a:t>План недели работает как правило, а итоги сравнивают план с фактом. Питомец растёт только от серии хороших недель. В игровом телефоне ребёнок учится замечать мошенников. Ошибка ничего не ломает, а объясняет, что пошло не так.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>
                <a:solidFill>
                  <a:schemeClr val="tx1"/>
                </a:solidFill>
              </a:rPr>
              <a:t>Капитан:</a:t>
            </a:r>
            <a:r>
              <a:rPr lang="ru-RU">
                <a:solidFill>
                  <a:schemeClr val="tx1"/>
                </a:solidFill>
              </a:rPr>
              <a:t> Абушаев Даниил Русланович, нейронные сети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>
                <a:solidFill>
                  <a:schemeClr val="tx1"/>
                </a:solidFill>
              </a:rPr>
              <a:t>Кол-во участников:</a:t>
            </a:r>
            <a:r>
              <a:rPr lang="ru-RU">
                <a:solidFill>
                  <a:schemeClr val="tx1"/>
                </a:solidFill>
              </a:rPr>
              <a:t> 3 человека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>
                <a:solidFill>
                  <a:schemeClr val="tx1"/>
                </a:solidFill>
              </a:rPr>
              <a:t>Краткое описание:</a:t>
            </a:r>
            <a:r>
              <a:rPr lang="ru-RU">
                <a:solidFill>
                  <a:schemeClr val="tx1"/>
                </a:solidFill>
              </a:rPr>
              <a:t> аналитик требований, разработчик интерфейсов и специалист по нейросетям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>
                <a:solidFill>
                  <a:schemeClr val="tx1"/>
                </a:solidFill>
              </a:rPr>
              <a:t>Город и регион:</a:t>
            </a:r>
            <a:r>
              <a:rPr lang="ru-RU">
                <a:solidFill>
                  <a:schemeClr val="tx1"/>
                </a:solidFill>
              </a:rPr>
              <a:t> Самара, Самарская область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r>
              <a:rPr lang="ru-RU" sz="2400">
                <a:solidFill>
                  <a:schemeClr val="accent5"/>
                </a:solidFill>
                <a:latin typeface="+mn-lt"/>
              </a:rPr>
              <a:t>Питомец Финни</a:t>
            </a:r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>
                <a:solidFill>
                  <a:schemeClr val="tx1"/>
                </a:solidFill>
              </a:rPr>
              <a:t>Игра для Android и браузера. Ребёнок заботится о питомце на игровые монетки: каждую неделю делит доход на нужное, желаемое и копилку, покупает, копит на цель и решает задания. От его решений зависят настроение и рост питомца.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2</a:t>
            </a:fld>
            <a:endParaRPr lang="ru-RU" sz="1200" dirty="0">
              <a:solidFill>
                <a:schemeClr val="accent5"/>
              </a:solidFill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3D2BAE0-344C-4DF8-B233-DEDE6F8ACEB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5267"/>
            <a:ext cx="6456363" cy="2971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2823678" y="4191000"/>
            <a:ext cx="1894354" cy="1905000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Капитан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Нейронные сети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Самара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823677" y="3505200"/>
            <a:ext cx="1905000" cy="558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200" b="1">
                <a:solidFill>
                  <a:schemeClr val="accent5"/>
                </a:solidFill>
              </a:rPr>
              <a:t>Абушаев</a:t>
            </a:r>
          </a:p>
          <a:p>
            <a:pPr marL="0" indent="0">
              <a:buNone/>
            </a:pPr>
            <a:r>
              <a:rPr lang="ru-RU" sz="1200" b="1">
                <a:solidFill>
                  <a:schemeClr val="accent5"/>
                </a:solidFill>
              </a:rPr>
              <a:t>Даниил Русланович</a:t>
            </a:r>
            <a:endParaRPr lang="ru-RU" sz="1200" b="1" dirty="0">
              <a:solidFill>
                <a:schemeClr val="accent5"/>
              </a:solidFill>
            </a:endParaRP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4956712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5128996" y="4191000"/>
            <a:ext cx="1894354" cy="1905000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Адаптивная вёрстка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Разработка ПО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Самара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5128995" y="3505200"/>
            <a:ext cx="1905000" cy="558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200" b="1">
                <a:solidFill>
                  <a:schemeClr val="accent5"/>
                </a:solidFill>
              </a:rPr>
              <a:t>Турнаев</a:t>
            </a:r>
          </a:p>
          <a:p>
            <a:pPr marL="0" indent="0">
              <a:buNone/>
            </a:pPr>
            <a:r>
              <a:rPr lang="ru-RU" sz="1200" b="1">
                <a:solidFill>
                  <a:schemeClr val="accent5"/>
                </a:solidFill>
              </a:rPr>
              <a:t>Александр Дмитриевич</a:t>
            </a:r>
            <a:endParaRPr lang="ru-RU" sz="1200" b="1" dirty="0">
              <a:solidFill>
                <a:schemeClr val="accent5"/>
              </a:solidFill>
            </a:endParaRP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/>
          <p:nvPr/>
        </p:nvSpPr>
        <p:spPr>
          <a:xfrm>
            <a:off x="7262031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 txBox="1">
            <a:spLocks/>
          </p:cNvSpPr>
          <p:nvPr/>
        </p:nvSpPr>
        <p:spPr>
          <a:xfrm>
            <a:off x="7434315" y="4191000"/>
            <a:ext cx="1894354" cy="1905000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Анализ требований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Бизнес-анализ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Системный анализ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Самара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4" name="Текст 8">
            <a:extLst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 txBox="1">
            <a:spLocks/>
          </p:cNvSpPr>
          <p:nvPr/>
        </p:nvSpPr>
        <p:spPr>
          <a:xfrm>
            <a:off x="7434314" y="3505200"/>
            <a:ext cx="1905000" cy="558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200" b="1">
                <a:solidFill>
                  <a:schemeClr val="accent5"/>
                </a:solidFill>
              </a:rPr>
              <a:t>Чернов</a:t>
            </a:r>
          </a:p>
          <a:p>
            <a:pPr marL="0" indent="0">
              <a:buNone/>
            </a:pPr>
            <a:r>
              <a:rPr lang="ru-RU" sz="1200" b="1">
                <a:solidFill>
                  <a:schemeClr val="accent5"/>
                </a:solidFill>
              </a:rPr>
              <a:t>Илья Александрович</a:t>
            </a:r>
            <a:endParaRPr lang="ru-RU" sz="1200" b="1" dirty="0">
              <a:solidFill>
                <a:schemeClr val="accent5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7624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rPr lang="ru-RU">
                <a:latin typeface="+mn-lt"/>
              </a:rPr>
              <a:t>КОМАНДА </a:t>
            </a:r>
            <a:r>
              <a:rPr lang="en-US">
                <a:latin typeface="+mn-lt"/>
              </a:rPr>
              <a:t>CYBERCATS</a:t>
            </a:r>
            <a:endParaRPr lang="ru-RU" dirty="0">
              <a:latin typeface="+mn-lt"/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58C6CF8A-4714-485E-8713-A871AC8347D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C6CCA80-0B10-465C-A139-A94B1169B00B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6467" y="1826554"/>
            <a:ext cx="1722566" cy="1542401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8AAAE22-54D3-4208-A809-E2279BDE5DD1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1784" y="1809238"/>
            <a:ext cx="1722567" cy="1559717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904C9BA6-0776-44AC-915D-46473C951850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0208" y="1809238"/>
            <a:ext cx="1722567" cy="1559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81128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rPr lang="ru-RU">
                <a:latin typeface="+mn-lt"/>
              </a:rPr>
              <a:t>О КОМАНДЕ И ЗАДАЧЕ</a:t>
            </a:r>
            <a:endParaRPr lang="ru-RU" dirty="0">
              <a:latin typeface="+mn-lt"/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 wrap="square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>
                <a:solidFill>
                  <a:schemeClr val="tx1"/>
                </a:solidFill>
              </a:rPr>
              <a:t>Мы из Самары. У каждого своя сильная сторона: анализ требований, интерфейсы и нейросети. На хакатоне это позволило вести продукт, код и документацию параллельно.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>
                <a:solidFill>
                  <a:schemeClr val="tx1"/>
                </a:solidFill>
              </a:rPr>
              <a:t>Баланс экономики: монеток должно хватать на нужное, но не на всё сразу. Тексты: объяснять последствия без страха и стыда. Качество: 73 автотеста и прогон всего сценария на экране 360 dp.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>
                <a:solidFill>
                  <a:schemeClr val="tx1"/>
                </a:solidFill>
              </a:rPr>
              <a:t>Задача про детей и деньги понятна каждому. Хотелось сделать игру, где ребёнок сам принимает решение и сразу видит, к чему оно привело, а ошибка не наказывает, а учит.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5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</a:pPr>
            <a:r>
              <a:rPr lang="ru-RU" sz="1500">
                <a:solidFill>
                  <a:schemeClr val="tx1"/>
                </a:solidFill>
              </a:rPr>
              <a:t>Один код на HTML, CSS и JavaScript для браузера и Android</a:t>
            </a:r>
          </a:p>
          <a:p>
            <a:pPr>
              <a:spcAft>
                <a:spcPts val="1000"/>
              </a:spcAft>
            </a:pPr>
            <a:r>
              <a:rPr lang="ru-RU" sz="1500">
                <a:solidFill>
                  <a:schemeClr val="tx1"/>
                </a:solidFill>
              </a:rPr>
              <a:t>APK собирается через Capacitor 8, работает на Android 8.0 и выше</a:t>
            </a:r>
          </a:p>
          <a:p>
            <a:pPr>
              <a:spcAft>
                <a:spcPts val="1000"/>
              </a:spcAft>
            </a:pPr>
            <a:r>
              <a:rPr lang="ru-RU" sz="1500">
                <a:solidFill>
                  <a:schemeClr val="tx1"/>
                </a:solidFill>
              </a:rPr>
              <a:t>Данные только на устройстве: без сервера, регистрации и интернета</a:t>
            </a:r>
          </a:p>
          <a:p>
            <a:pPr>
              <a:spcAft>
                <a:spcPts val="1000"/>
              </a:spcAft>
            </a:pPr>
            <a:r>
              <a:rPr lang="ru-RU" sz="1500">
                <a:solidFill>
                  <a:schemeClr val="tx1"/>
                </a:solidFill>
              </a:rPr>
              <a:t>Учебный контент в JSON: новое задание без правки кода</a:t>
            </a:r>
            <a:endParaRPr lang="ru-RU" sz="1500" dirty="0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</a:pPr>
            <a:r>
              <a:rPr lang="ru-RU" sz="1500">
                <a:solidFill>
                  <a:schemeClr val="tx1"/>
                </a:solidFill>
              </a:rPr>
              <a:t>Бесплатное просветительское приложение для семей и школ</a:t>
            </a:r>
          </a:p>
          <a:p>
            <a:pPr>
              <a:spcAft>
                <a:spcPts val="1000"/>
              </a:spcAft>
            </a:pPr>
            <a:r>
              <a:rPr lang="ru-RU" sz="1500">
                <a:solidFill>
                  <a:schemeClr val="tx1"/>
                </a:solidFill>
              </a:rPr>
              <a:t>Готово к RuStore: пакет ru.finnypet.app, подписанный APK</a:t>
            </a:r>
          </a:p>
          <a:p>
            <a:pPr>
              <a:spcAft>
                <a:spcPts val="1000"/>
              </a:spcAft>
            </a:pPr>
            <a:r>
              <a:rPr lang="ru-RU" sz="1500">
                <a:solidFill>
                  <a:schemeClr val="tx1"/>
                </a:solidFill>
              </a:rPr>
              <a:t>Раздел для взрослых помогает обсуждать с ребёнком итоги недели</a:t>
            </a:r>
          </a:p>
          <a:p>
            <a:pPr>
              <a:spcAft>
                <a:spcPts val="1000"/>
              </a:spcAft>
            </a:pPr>
            <a:r>
              <a:rPr lang="ru-RU" sz="1500">
                <a:solidFill>
                  <a:schemeClr val="tx1"/>
                </a:solidFill>
              </a:rPr>
              <a:t>Дальше: пилот в школах, новые темы, озвучка текстов</a:t>
            </a:r>
            <a:endParaRPr lang="ru-RU" sz="1500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>
                <a:solidFill>
                  <a:schemeClr val="accent5"/>
                </a:solidFill>
              </a:rPr>
              <a:t>Маркетинговая суть решения</a:t>
            </a: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/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/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/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/>
          <p:nvPr/>
        </p:nvSpPr>
        <p:spPr>
          <a:xfrm>
            <a:off x="346075" y="324562"/>
            <a:ext cx="3991684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/>
          <p:nvPr/>
        </p:nvSpPr>
        <p:spPr>
          <a:xfrm>
            <a:off x="5340262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/>
          <p:nvPr/>
        </p:nvSpPr>
        <p:spPr>
          <a:xfrm>
            <a:off x="1541018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6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 wrap="square">
            <a:normAutofit/>
          </a:bodyPr>
          <a:lstStyle/>
          <a:p>
            <a:r>
              <a:rPr lang="ru-RU" b="1">
                <a:solidFill>
                  <a:schemeClr val="tx1"/>
                </a:solidFill>
              </a:rPr>
              <a:t>Проблема</a:t>
            </a:r>
          </a:p>
          <a:p>
            <a:r>
              <a:rPr lang="ru-RU">
                <a:solidFill>
                  <a:schemeClr val="tx1"/>
                </a:solidFill>
              </a:rPr>
              <a:t>Дети получают карманные деньги раньше, чем учатся ими распоряжаться. Объяснения про доходы и расходы быстро утомляют.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 wrap="square">
            <a:normAutofit/>
          </a:bodyPr>
          <a:lstStyle/>
          <a:p>
            <a:r>
              <a:rPr lang="ru-RU" b="1">
                <a:solidFill>
                  <a:schemeClr val="tx1"/>
                </a:solidFill>
              </a:rPr>
              <a:t>Пользователи</a:t>
            </a:r>
          </a:p>
          <a:p>
            <a:r>
              <a:rPr lang="ru-RU">
                <a:solidFill>
                  <a:schemeClr val="tx1"/>
                </a:solidFill>
              </a:rPr>
              <a:t>Дети 7–11 лет, которые читают короткие фразы и считают в пределах сотни. Взрослый поддерживает, но не решает за ребёнка.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 wrap="square">
            <a:normAutofit/>
          </a:bodyPr>
          <a:lstStyle/>
          <a:p>
            <a:r>
              <a:rPr lang="ru-RU" b="1">
                <a:solidFill>
                  <a:schemeClr val="tx1"/>
                </a:solidFill>
              </a:rPr>
              <a:t>Решение</a:t>
            </a:r>
          </a:p>
          <a:p>
            <a:r>
              <a:rPr lang="ru-RU">
                <a:solidFill>
                  <a:schemeClr val="tx1"/>
                </a:solidFill>
              </a:rPr>
              <a:t>Виртуальный питомец: от того, как ребёнок распределит монетки, зависят его настроение и рост.</a:t>
            </a:r>
          </a:p>
        </p:txBody>
      </p:sp>
      <p:cxnSp>
        <p:nvCxnSpPr>
          <p:cNvPr id="58" name="Google Shape;2799;p94">
            <a:extLst>
              <a:ext uri="{FF2B5EF4-FFF2-40B4-BE49-F238E27FC236}">
                <a16:creationId xmlns:a16="http://schemas.microsoft.com/office/drawing/2014/main" id="{567FA9A9-3099-4088-80A0-9601CEE4D42E}"/>
              </a:ext>
            </a:extLst>
          </p:cNvPr>
          <p:cNvCxnSpPr>
            <a:cxnSpLocks/>
          </p:cNvCxnSpPr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oogle Shape;2829;p94">
            <a:extLst>
              <a:ext uri="{FF2B5EF4-FFF2-40B4-BE49-F238E27FC236}">
                <a16:creationId xmlns:a16="http://schemas.microsoft.com/office/drawing/2014/main" id="{4C77747E-B18D-4A2B-BA4F-6DC51DACDF20}"/>
              </a:ext>
            </a:extLst>
          </p:cNvPr>
          <p:cNvGrpSpPr/>
          <p:nvPr/>
        </p:nvGrpSpPr>
        <p:grpSpPr>
          <a:xfrm>
            <a:off x="1899087" y="1753233"/>
            <a:ext cx="738531" cy="687909"/>
            <a:chOff x="3385734" y="2233242"/>
            <a:chExt cx="340504" cy="319542"/>
          </a:xfrm>
        </p:grpSpPr>
        <p:sp>
          <p:nvSpPr>
            <p:cNvPr id="63" name="Google Shape;2830;p94">
              <a:extLst>
                <a:ext uri="{FF2B5EF4-FFF2-40B4-BE49-F238E27FC236}">
                  <a16:creationId xmlns:a16="http://schemas.microsoft.com/office/drawing/2014/main" id="{F538E3A9-5C7B-406B-80D1-B9EEBFF33FF0}"/>
                </a:ext>
              </a:extLst>
            </p:cNvPr>
            <p:cNvSpPr/>
            <p:nvPr/>
          </p:nvSpPr>
          <p:spPr>
            <a:xfrm>
              <a:off x="3385734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2831;p94">
              <a:extLst>
                <a:ext uri="{FF2B5EF4-FFF2-40B4-BE49-F238E27FC236}">
                  <a16:creationId xmlns:a16="http://schemas.microsoft.com/office/drawing/2014/main" id="{6A25AEAC-89F0-49CB-B7BE-42F11987AD9D}"/>
                </a:ext>
              </a:extLst>
            </p:cNvPr>
            <p:cNvSpPr/>
            <p:nvPr/>
          </p:nvSpPr>
          <p:spPr>
            <a:xfrm>
              <a:off x="3420989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2832;p94">
              <a:extLst>
                <a:ext uri="{FF2B5EF4-FFF2-40B4-BE49-F238E27FC236}">
                  <a16:creationId xmlns:a16="http://schemas.microsoft.com/office/drawing/2014/main" id="{3504136F-174E-465D-95D8-13EE2C34474F}"/>
                </a:ext>
              </a:extLst>
            </p:cNvPr>
            <p:cNvSpPr/>
            <p:nvPr/>
          </p:nvSpPr>
          <p:spPr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2833;p94">
              <a:extLst>
                <a:ext uri="{FF2B5EF4-FFF2-40B4-BE49-F238E27FC236}">
                  <a16:creationId xmlns:a16="http://schemas.microsoft.com/office/drawing/2014/main" id="{1A03FD0C-7738-4A35-B44B-4D9C0E75CBAB}"/>
                </a:ext>
              </a:extLst>
            </p:cNvPr>
            <p:cNvSpPr/>
            <p:nvPr/>
          </p:nvSpPr>
          <p:spPr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2834;p94">
              <a:extLst>
                <a:ext uri="{FF2B5EF4-FFF2-40B4-BE49-F238E27FC236}">
                  <a16:creationId xmlns:a16="http://schemas.microsoft.com/office/drawing/2014/main" id="{66009B1B-C6FD-49B8-8022-7BA95FBA9273}"/>
                </a:ext>
              </a:extLst>
            </p:cNvPr>
            <p:cNvSpPr/>
            <p:nvPr/>
          </p:nvSpPr>
          <p:spPr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2835;p94">
              <a:extLst>
                <a:ext uri="{FF2B5EF4-FFF2-40B4-BE49-F238E27FC236}">
                  <a16:creationId xmlns:a16="http://schemas.microsoft.com/office/drawing/2014/main" id="{842A40FB-E85F-45B5-A562-0F31875BC8DD}"/>
                </a:ext>
              </a:extLst>
            </p:cNvPr>
            <p:cNvSpPr/>
            <p:nvPr/>
          </p:nvSpPr>
          <p:spPr>
            <a:xfrm>
              <a:off x="3420989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2836;p94">
              <a:extLst>
                <a:ext uri="{FF2B5EF4-FFF2-40B4-BE49-F238E27FC236}">
                  <a16:creationId xmlns:a16="http://schemas.microsoft.com/office/drawing/2014/main" id="{543973E7-B229-4280-95BA-F224FDE6583D}"/>
                </a:ext>
              </a:extLst>
            </p:cNvPr>
            <p:cNvSpPr/>
            <p:nvPr/>
          </p:nvSpPr>
          <p:spPr>
            <a:xfrm>
              <a:off x="3420989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2837;p94">
              <a:extLst>
                <a:ext uri="{FF2B5EF4-FFF2-40B4-BE49-F238E27FC236}">
                  <a16:creationId xmlns:a16="http://schemas.microsoft.com/office/drawing/2014/main" id="{41575783-12EF-40FC-B478-EC50906BBB87}"/>
                </a:ext>
              </a:extLst>
            </p:cNvPr>
            <p:cNvSpPr/>
            <p:nvPr/>
          </p:nvSpPr>
          <p:spPr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2838;p94">
              <a:extLst>
                <a:ext uri="{FF2B5EF4-FFF2-40B4-BE49-F238E27FC236}">
                  <a16:creationId xmlns:a16="http://schemas.microsoft.com/office/drawing/2014/main" id="{6F0CCC03-3E72-49CA-80F0-A626E2390658}"/>
                </a:ext>
              </a:extLst>
            </p:cNvPr>
            <p:cNvSpPr/>
            <p:nvPr/>
          </p:nvSpPr>
          <p:spPr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2839;p94">
              <a:extLst>
                <a:ext uri="{FF2B5EF4-FFF2-40B4-BE49-F238E27FC236}">
                  <a16:creationId xmlns:a16="http://schemas.microsoft.com/office/drawing/2014/main" id="{18635451-A733-4CC9-B50F-300CE78CFF2E}"/>
                </a:ext>
              </a:extLst>
            </p:cNvPr>
            <p:cNvSpPr/>
            <p:nvPr/>
          </p:nvSpPr>
          <p:spPr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2840;p94">
              <a:extLst>
                <a:ext uri="{FF2B5EF4-FFF2-40B4-BE49-F238E27FC236}">
                  <a16:creationId xmlns:a16="http://schemas.microsoft.com/office/drawing/2014/main" id="{26780036-310A-4D31-A416-A5EB695F5FF5}"/>
                </a:ext>
              </a:extLst>
            </p:cNvPr>
            <p:cNvSpPr/>
            <p:nvPr/>
          </p:nvSpPr>
          <p:spPr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2841;p94">
              <a:extLst>
                <a:ext uri="{FF2B5EF4-FFF2-40B4-BE49-F238E27FC236}">
                  <a16:creationId xmlns:a16="http://schemas.microsoft.com/office/drawing/2014/main" id="{76A8C9FE-70F9-46C6-890D-45DD60BFE8B2}"/>
                </a:ext>
              </a:extLst>
            </p:cNvPr>
            <p:cNvSpPr/>
            <p:nvPr/>
          </p:nvSpPr>
          <p:spPr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2842;p94">
              <a:extLst>
                <a:ext uri="{FF2B5EF4-FFF2-40B4-BE49-F238E27FC236}">
                  <a16:creationId xmlns:a16="http://schemas.microsoft.com/office/drawing/2014/main" id="{97FED165-3DBA-426F-92BB-B0C3DB516285}"/>
                </a:ext>
              </a:extLst>
            </p:cNvPr>
            <p:cNvSpPr/>
            <p:nvPr/>
          </p:nvSpPr>
          <p:spPr>
            <a:xfrm>
              <a:off x="3646108" y="2379063"/>
              <a:ext cx="19276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2843;p94">
              <a:extLst>
                <a:ext uri="{FF2B5EF4-FFF2-40B4-BE49-F238E27FC236}">
                  <a16:creationId xmlns:a16="http://schemas.microsoft.com/office/drawing/2014/main" id="{386E4A42-856C-4795-ABCB-63A7928B33C3}"/>
                </a:ext>
              </a:extLst>
            </p:cNvPr>
            <p:cNvSpPr/>
            <p:nvPr/>
          </p:nvSpPr>
          <p:spPr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0" name="Google Shape;2818;p94">
            <a:extLst>
              <a:ext uri="{FF2B5EF4-FFF2-40B4-BE49-F238E27FC236}">
                <a16:creationId xmlns:a16="http://schemas.microsoft.com/office/drawing/2014/main" id="{C0241749-B161-4D51-AE4A-9F151E800A9E}"/>
              </a:ext>
            </a:extLst>
          </p:cNvPr>
          <p:cNvGrpSpPr/>
          <p:nvPr/>
        </p:nvGrpSpPr>
        <p:grpSpPr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>
              <a:extLst>
                <a:ext uri="{FF2B5EF4-FFF2-40B4-BE49-F238E27FC236}">
                  <a16:creationId xmlns:a16="http://schemas.microsoft.com/office/drawing/2014/main" id="{148574C2-EBD4-4199-9829-8DFDEA9C78B4}"/>
                </a:ext>
              </a:extLst>
            </p:cNvPr>
            <p:cNvSpPr/>
            <p:nvPr/>
          </p:nvSpPr>
          <p:spPr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2820;p94">
              <a:extLst>
                <a:ext uri="{FF2B5EF4-FFF2-40B4-BE49-F238E27FC236}">
                  <a16:creationId xmlns:a16="http://schemas.microsoft.com/office/drawing/2014/main" id="{57E0AF51-B6FC-41BD-911C-FDDBED10DCD6}"/>
                </a:ext>
              </a:extLst>
            </p:cNvPr>
            <p:cNvSpPr/>
            <p:nvPr/>
          </p:nvSpPr>
          <p:spPr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2821;p94">
              <a:extLst>
                <a:ext uri="{FF2B5EF4-FFF2-40B4-BE49-F238E27FC236}">
                  <a16:creationId xmlns:a16="http://schemas.microsoft.com/office/drawing/2014/main" id="{57B8954A-C826-4A9B-B657-89922358B024}"/>
                </a:ext>
              </a:extLst>
            </p:cNvPr>
            <p:cNvSpPr/>
            <p:nvPr/>
          </p:nvSpPr>
          <p:spPr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2822;p94">
              <a:extLst>
                <a:ext uri="{FF2B5EF4-FFF2-40B4-BE49-F238E27FC236}">
                  <a16:creationId xmlns:a16="http://schemas.microsoft.com/office/drawing/2014/main" id="{0E034DD0-4B55-4B91-A037-3246A0A29407}"/>
                </a:ext>
              </a:extLst>
            </p:cNvPr>
            <p:cNvSpPr/>
            <p:nvPr/>
          </p:nvSpPr>
          <p:spPr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2823;p94">
              <a:extLst>
                <a:ext uri="{FF2B5EF4-FFF2-40B4-BE49-F238E27FC236}">
                  <a16:creationId xmlns:a16="http://schemas.microsoft.com/office/drawing/2014/main" id="{06B94662-6FE6-4CF5-B934-EE5CBA83D325}"/>
                </a:ext>
              </a:extLst>
            </p:cNvPr>
            <p:cNvSpPr/>
            <p:nvPr/>
          </p:nvSpPr>
          <p:spPr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2824;p94">
              <a:extLst>
                <a:ext uri="{FF2B5EF4-FFF2-40B4-BE49-F238E27FC236}">
                  <a16:creationId xmlns:a16="http://schemas.microsoft.com/office/drawing/2014/main" id="{02B037F2-DC45-4341-8A79-CB3209AED39D}"/>
                </a:ext>
              </a:extLst>
            </p:cNvPr>
            <p:cNvSpPr/>
            <p:nvPr/>
          </p:nvSpPr>
          <p:spPr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2825;p94">
              <a:extLst>
                <a:ext uri="{FF2B5EF4-FFF2-40B4-BE49-F238E27FC236}">
                  <a16:creationId xmlns:a16="http://schemas.microsoft.com/office/drawing/2014/main" id="{C50B4741-907E-42DE-BA0B-3176B42ED322}"/>
                </a:ext>
              </a:extLst>
            </p:cNvPr>
            <p:cNvSpPr/>
            <p:nvPr/>
          </p:nvSpPr>
          <p:spPr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2826;p94">
              <a:extLst>
                <a:ext uri="{FF2B5EF4-FFF2-40B4-BE49-F238E27FC236}">
                  <a16:creationId xmlns:a16="http://schemas.microsoft.com/office/drawing/2014/main" id="{36AB534A-DCD7-4445-B575-A5862273CEB8}"/>
                </a:ext>
              </a:extLst>
            </p:cNvPr>
            <p:cNvSpPr/>
            <p:nvPr/>
          </p:nvSpPr>
          <p:spPr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2827;p94">
              <a:extLst>
                <a:ext uri="{FF2B5EF4-FFF2-40B4-BE49-F238E27FC236}">
                  <a16:creationId xmlns:a16="http://schemas.microsoft.com/office/drawing/2014/main" id="{B5DD2815-B50D-4491-A04C-6F99AB0237E5}"/>
                </a:ext>
              </a:extLst>
            </p:cNvPr>
            <p:cNvSpPr/>
            <p:nvPr/>
          </p:nvSpPr>
          <p:spPr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4" name="Google Shape;2805;p94">
            <a:extLst>
              <a:ext uri="{FF2B5EF4-FFF2-40B4-BE49-F238E27FC236}">
                <a16:creationId xmlns:a16="http://schemas.microsoft.com/office/drawing/2014/main" id="{5E434E9D-30AC-45F0-A79E-53D93704F0BF}"/>
              </a:ext>
            </a:extLst>
          </p:cNvPr>
          <p:cNvGrpSpPr/>
          <p:nvPr/>
        </p:nvGrpSpPr>
        <p:grpSpPr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>
              <a:extLst>
                <a:ext uri="{FF2B5EF4-FFF2-40B4-BE49-F238E27FC236}">
                  <a16:creationId xmlns:a16="http://schemas.microsoft.com/office/drawing/2014/main" id="{DF5EB72A-9714-47B1-AA38-FD4B1CF31477}"/>
                </a:ext>
              </a:extLst>
            </p:cNvPr>
            <p:cNvSpPr/>
            <p:nvPr/>
          </p:nvSpPr>
          <p:spPr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2807;p94">
              <a:extLst>
                <a:ext uri="{FF2B5EF4-FFF2-40B4-BE49-F238E27FC236}">
                  <a16:creationId xmlns:a16="http://schemas.microsoft.com/office/drawing/2014/main" id="{03D26D72-6983-4EF2-8819-908F4C3C60E4}"/>
                </a:ext>
              </a:extLst>
            </p:cNvPr>
            <p:cNvSpPr/>
            <p:nvPr/>
          </p:nvSpPr>
          <p:spPr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2808;p94">
              <a:extLst>
                <a:ext uri="{FF2B5EF4-FFF2-40B4-BE49-F238E27FC236}">
                  <a16:creationId xmlns:a16="http://schemas.microsoft.com/office/drawing/2014/main" id="{F73A84BD-EA2A-4D95-A6B3-BA2F7CC3FA17}"/>
                </a:ext>
              </a:extLst>
            </p:cNvPr>
            <p:cNvSpPr/>
            <p:nvPr/>
          </p:nvSpPr>
          <p:spPr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2809;p94">
              <a:extLst>
                <a:ext uri="{FF2B5EF4-FFF2-40B4-BE49-F238E27FC236}">
                  <a16:creationId xmlns:a16="http://schemas.microsoft.com/office/drawing/2014/main" id="{790C7646-D6B3-419D-BDF3-09F1AA2B3135}"/>
                </a:ext>
              </a:extLst>
            </p:cNvPr>
            <p:cNvSpPr/>
            <p:nvPr/>
          </p:nvSpPr>
          <p:spPr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2810;p94">
              <a:extLst>
                <a:ext uri="{FF2B5EF4-FFF2-40B4-BE49-F238E27FC236}">
                  <a16:creationId xmlns:a16="http://schemas.microsoft.com/office/drawing/2014/main" id="{8FB3E07A-5D5E-4301-807A-B5A2E27785E1}"/>
                </a:ext>
              </a:extLst>
            </p:cNvPr>
            <p:cNvSpPr/>
            <p:nvPr/>
          </p:nvSpPr>
          <p:spPr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2811;p94">
              <a:extLst>
                <a:ext uri="{FF2B5EF4-FFF2-40B4-BE49-F238E27FC236}">
                  <a16:creationId xmlns:a16="http://schemas.microsoft.com/office/drawing/2014/main" id="{EC9E0779-D157-4AE3-A4AE-1572197E3A61}"/>
                </a:ext>
              </a:extLst>
            </p:cNvPr>
            <p:cNvSpPr/>
            <p:nvPr/>
          </p:nvSpPr>
          <p:spPr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2812;p94">
              <a:extLst>
                <a:ext uri="{FF2B5EF4-FFF2-40B4-BE49-F238E27FC236}">
                  <a16:creationId xmlns:a16="http://schemas.microsoft.com/office/drawing/2014/main" id="{BCFE82E2-ACAF-448C-87DF-5498486058B1}"/>
                </a:ext>
              </a:extLst>
            </p:cNvPr>
            <p:cNvSpPr/>
            <p:nvPr/>
          </p:nvSpPr>
          <p:spPr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2813;p94">
              <a:extLst>
                <a:ext uri="{FF2B5EF4-FFF2-40B4-BE49-F238E27FC236}">
                  <a16:creationId xmlns:a16="http://schemas.microsoft.com/office/drawing/2014/main" id="{FC69A224-7204-4F13-827A-8F6CFF13CA93}"/>
                </a:ext>
              </a:extLst>
            </p:cNvPr>
            <p:cNvSpPr/>
            <p:nvPr/>
          </p:nvSpPr>
          <p:spPr>
            <a:xfrm>
              <a:off x="4789296" y="2294680"/>
              <a:ext cx="168267" cy="172069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2814;p94">
              <a:extLst>
                <a:ext uri="{FF2B5EF4-FFF2-40B4-BE49-F238E27FC236}">
                  <a16:creationId xmlns:a16="http://schemas.microsoft.com/office/drawing/2014/main" id="{CC942708-1EED-4719-A7AB-15E25B610BA4}"/>
                </a:ext>
              </a:extLst>
            </p:cNvPr>
            <p:cNvSpPr/>
            <p:nvPr/>
          </p:nvSpPr>
          <p:spPr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2815;p94">
              <a:extLst>
                <a:ext uri="{FF2B5EF4-FFF2-40B4-BE49-F238E27FC236}">
                  <a16:creationId xmlns:a16="http://schemas.microsoft.com/office/drawing/2014/main" id="{75757593-004B-4B1D-8138-0CAB416ECD5D}"/>
                </a:ext>
              </a:extLst>
            </p:cNvPr>
            <p:cNvSpPr/>
            <p:nvPr/>
          </p:nvSpPr>
          <p:spPr>
            <a:xfrm>
              <a:off x="4883051" y="2382744"/>
              <a:ext cx="24053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2816;p94">
              <a:extLst>
                <a:ext uri="{FF2B5EF4-FFF2-40B4-BE49-F238E27FC236}">
                  <a16:creationId xmlns:a16="http://schemas.microsoft.com/office/drawing/2014/main" id="{E064EA9E-2DFD-4EA3-B711-1609C3E46F7B}"/>
                </a:ext>
              </a:extLst>
            </p:cNvPr>
            <p:cNvSpPr/>
            <p:nvPr/>
          </p:nvSpPr>
          <p:spPr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/>
          <p:nvPr/>
        </p:nvSpPr>
        <p:spPr>
          <a:xfrm>
            <a:off x="9337010" y="1396603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ПРОБЛЕМА И РЕШЕНИЕ</a:t>
            </a:r>
            <a:endParaRPr lang="ru-RU" dirty="0"/>
          </a:p>
        </p:txBody>
      </p:sp>
      <p:cxnSp>
        <p:nvCxnSpPr>
          <p:cNvPr id="14" name="Google Shape;2799;p94">
            <a:extLst>
              <a:ext uri="{FF2B5EF4-FFF2-40B4-BE49-F238E27FC236}">
                <a16:creationId xmlns:a16="http://schemas.microsoft.com/office/drawing/2014/main" id="{0372E42A-E229-C83D-8A7D-7D33518B16A2}"/>
              </a:ext>
            </a:extLst>
          </p:cNvPr>
          <p:cNvCxnSpPr>
            <a:cxnSpLocks/>
          </p:cNvCxnSpPr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345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5502984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615961" y="1428777"/>
            <a:ext cx="3866856" cy="423628"/>
          </a:xfrm>
        </p:spPr>
        <p:txBody>
          <a:bodyPr wrap="square">
            <a:normAutofit/>
          </a:bodyPr>
          <a:lstStyle/>
          <a:p>
            <a:r>
              <a:rPr lang="ru-RU">
                <a:solidFill>
                  <a:srgbClr val="F92571"/>
                </a:solidFill>
              </a:rPr>
              <a:t>Бюджет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615964" y="1996388"/>
            <a:ext cx="3866856" cy="672075"/>
          </a:xfrm>
        </p:spPr>
        <p:txBody>
          <a:bodyPr wrap="square">
            <a:normAutofit/>
          </a:bodyPr>
          <a:lstStyle/>
          <a:p>
            <a:r>
              <a:rPr lang="ru-RU">
                <a:solidFill>
                  <a:schemeClr val="tx1"/>
                </a:solidFill>
              </a:rPr>
              <a:t>План недели до покупок, кошелёк не уходит в минус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596605" y="3032761"/>
            <a:ext cx="3866856" cy="403756"/>
          </a:xfrm>
        </p:spPr>
        <p:txBody>
          <a:bodyPr wrap="square">
            <a:normAutofit/>
          </a:bodyPr>
          <a:lstStyle/>
          <a:p>
            <a:r>
              <a:rPr lang="ru-RU">
                <a:solidFill>
                  <a:srgbClr val="F92571"/>
                </a:solidFill>
              </a:rPr>
              <a:t>Нужное и желаемое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596605" y="3580500"/>
            <a:ext cx="3866856" cy="672075"/>
          </a:xfrm>
        </p:spPr>
        <p:txBody>
          <a:bodyPr wrap="square">
            <a:normAutofit/>
          </a:bodyPr>
          <a:lstStyle/>
          <a:p>
            <a:r>
              <a:rPr lang="ru-RU">
                <a:solidFill>
                  <a:schemeClr val="tx1"/>
                </a:solidFill>
              </a:rPr>
              <a:t>Еда и уход каждую неделю, игрушки подождут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96605" y="4616873"/>
            <a:ext cx="3866856" cy="403913"/>
          </a:xfrm>
        </p:spPr>
        <p:txBody>
          <a:bodyPr wrap="square">
            <a:normAutofit/>
          </a:bodyPr>
          <a:lstStyle/>
          <a:p>
            <a:r>
              <a:rPr lang="ru-RU">
                <a:solidFill>
                  <a:srgbClr val="F92571"/>
                </a:solidFill>
              </a:rPr>
              <a:t>Выбор при ограничении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596605" y="5164612"/>
            <a:ext cx="3866856" cy="672075"/>
          </a:xfrm>
        </p:spPr>
        <p:txBody>
          <a:bodyPr wrap="square">
            <a:normAutofit/>
          </a:bodyPr>
          <a:lstStyle/>
          <a:p>
            <a:r>
              <a:rPr lang="ru-RU">
                <a:solidFill>
                  <a:schemeClr val="tx1"/>
                </a:solidFill>
              </a:rPr>
              <a:t>Товаров на 275 монеток при доходе 100 в неделю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289068" y="1428777"/>
            <a:ext cx="3866856" cy="423628"/>
          </a:xfrm>
        </p:spPr>
        <p:txBody>
          <a:bodyPr wrap="square">
            <a:normAutofit/>
          </a:bodyPr>
          <a:lstStyle/>
          <a:p>
            <a:r>
              <a:rPr lang="ru-RU">
                <a:solidFill>
                  <a:srgbClr val="F92571"/>
                </a:solidFill>
              </a:rPr>
              <a:t>Цель и накопления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289071" y="1996388"/>
            <a:ext cx="3866856" cy="672075"/>
          </a:xfrm>
        </p:spPr>
        <p:txBody>
          <a:bodyPr wrap="square">
            <a:normAutofit/>
          </a:bodyPr>
          <a:lstStyle/>
          <a:p>
            <a:r>
              <a:rPr lang="ru-RU">
                <a:solidFill>
                  <a:schemeClr val="tx1"/>
                </a:solidFill>
              </a:rPr>
              <a:t>Копилка отдельно от кошелька, срок до цели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269712" y="3032761"/>
            <a:ext cx="3866856" cy="403756"/>
          </a:xfrm>
        </p:spPr>
        <p:txBody>
          <a:bodyPr wrap="square">
            <a:normAutofit/>
          </a:bodyPr>
          <a:lstStyle/>
          <a:p>
            <a:r>
              <a:rPr lang="ru-RU">
                <a:solidFill>
                  <a:srgbClr val="F92571"/>
                </a:solidFill>
              </a:rPr>
              <a:t>Оценка решений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7269712" y="3580500"/>
            <a:ext cx="3866856" cy="672075"/>
          </a:xfrm>
        </p:spPr>
        <p:txBody>
          <a:bodyPr wrap="square">
            <a:normAutofit/>
          </a:bodyPr>
          <a:lstStyle/>
          <a:p>
            <a:r>
              <a:rPr lang="ru-RU">
                <a:solidFill>
                  <a:schemeClr val="tx1"/>
                </a:solidFill>
              </a:rPr>
              <a:t>Итоги недели: план и факт, звёзды, совет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269712" y="4616873"/>
            <a:ext cx="3866856" cy="403913"/>
          </a:xfrm>
        </p:spPr>
        <p:txBody>
          <a:bodyPr wrap="square">
            <a:normAutofit/>
          </a:bodyPr>
          <a:lstStyle/>
          <a:p>
            <a:r>
              <a:rPr lang="ru-RU">
                <a:solidFill>
                  <a:srgbClr val="F92571"/>
                </a:solidFill>
              </a:rPr>
              <a:t>Вместе со взрослым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269712" y="5164612"/>
            <a:ext cx="3866856" cy="672075"/>
          </a:xfrm>
        </p:spPr>
        <p:txBody>
          <a:bodyPr wrap="square">
            <a:normAutofit/>
          </a:bodyPr>
          <a:lstStyle/>
          <a:p>
            <a:r>
              <a:rPr lang="ru-RU">
                <a:solidFill>
                  <a:schemeClr val="tx1"/>
                </a:solidFill>
              </a:rPr>
              <a:t>Раздел для взрослых: темы, прогресс, бонус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ОБРАЗОВАТЕЛЬНЫЕ РЕЗУЛЬТАТЫ</a:t>
            </a:r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394052"/>
            <a:ext cx="771003" cy="423628"/>
          </a:xfrm>
        </p:spPr>
        <p:txBody>
          <a:bodyPr/>
          <a:lstStyle/>
          <a:p>
            <a:r>
              <a:rPr lang="ru-RU" b="1">
                <a:solidFill>
                  <a:schemeClr val="accent5"/>
                </a:solidFill>
              </a:rPr>
              <a:t>01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01557" y="2998036"/>
            <a:ext cx="771003" cy="403756"/>
          </a:xfrm>
        </p:spPr>
        <p:txBody>
          <a:bodyPr/>
          <a:lstStyle/>
          <a:p>
            <a:r>
              <a:rPr lang="ru-RU" b="1">
                <a:solidFill>
                  <a:schemeClr val="accent5"/>
                </a:solidFill>
              </a:rPr>
              <a:t>02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01557" y="4582148"/>
            <a:ext cx="771003" cy="403913"/>
          </a:xfrm>
        </p:spPr>
        <p:txBody>
          <a:bodyPr/>
          <a:lstStyle/>
          <a:p>
            <a:r>
              <a:rPr lang="ru-RU" b="1">
                <a:solidFill>
                  <a:schemeClr val="accent5"/>
                </a:solidFill>
              </a:rPr>
              <a:t>03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194020" y="1394052"/>
            <a:ext cx="771003" cy="423628"/>
          </a:xfrm>
        </p:spPr>
        <p:txBody>
          <a:bodyPr/>
          <a:lstStyle/>
          <a:p>
            <a:r>
              <a:rPr lang="ru-RU" b="1">
                <a:solidFill>
                  <a:schemeClr val="accent5"/>
                </a:solidFill>
              </a:rPr>
              <a:t>04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6174664" y="2998036"/>
            <a:ext cx="771003" cy="403756"/>
          </a:xfrm>
        </p:spPr>
        <p:txBody>
          <a:bodyPr/>
          <a:lstStyle/>
          <a:p>
            <a:r>
              <a:rPr lang="ru-RU" b="1">
                <a:solidFill>
                  <a:schemeClr val="accent5"/>
                </a:solidFill>
              </a:rPr>
              <a:t>05</a:t>
            </a: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174664" y="4582148"/>
            <a:ext cx="771003" cy="403913"/>
          </a:xfrm>
        </p:spPr>
        <p:txBody>
          <a:bodyPr/>
          <a:lstStyle/>
          <a:p>
            <a:r>
              <a:rPr lang="ru-RU" b="1">
                <a:solidFill>
                  <a:schemeClr val="accent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53FA016-B8F4-4D9C-A889-0AC16506EA4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872" y="1235915"/>
            <a:ext cx="2172255" cy="4602697"/>
          </a:xfrm>
          <a:prstGeom prst="rect">
            <a:avLst/>
          </a:prstGeom>
        </p:spPr>
      </p:pic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832352E2-54BA-705C-C9BB-328B5BDEF2D2}"/>
              </a:ext>
            </a:extLst>
          </p:cNvPr>
          <p:cNvSpPr/>
          <p:nvPr/>
        </p:nvSpPr>
        <p:spPr>
          <a:xfrm>
            <a:off x="346075" y="324562"/>
            <a:ext cx="3329697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D043264-47A7-41A8-BD39-44764904AB3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prstGeom prst="roundRect">
            <a:avLst>
              <a:gd name="adj" fmla="val 0"/>
            </a:avLst>
          </a:prstGeom>
          <a:noFill/>
        </p:spPr>
        <p:txBody>
          <a:bodyPr wrap="square">
            <a:normAutofit/>
          </a:bodyPr>
          <a:lstStyle/>
          <a:p>
            <a:r>
              <a:rPr lang="ru-RU" b="0">
                <a:solidFill>
                  <a:schemeClr val="accent5"/>
                </a:solidFill>
              </a:rPr>
              <a:t>Решение сразу видно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5760666-5FA0-4D8C-AB12-AC2144A4667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wrap="square">
            <a:normAutofit/>
          </a:bodyPr>
          <a:lstStyle/>
          <a:p>
            <a:r>
              <a:rPr lang="ru-RU">
                <a:solidFill>
                  <a:schemeClr val="tx1"/>
                </a:solidFill>
              </a:rPr>
              <a:t>Купил еду, сытость выросла. Забыл про уход, питомец жалуется и просит помочь.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A4149DD-AEA5-4B34-B1C7-7F98E296C6A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prstGeom prst="roundRect">
            <a:avLst>
              <a:gd name="adj" fmla="val 0"/>
            </a:avLst>
          </a:prstGeom>
          <a:noFill/>
        </p:spPr>
        <p:txBody>
          <a:bodyPr wrap="square">
            <a:normAutofit/>
          </a:bodyPr>
          <a:lstStyle/>
          <a:p>
            <a:r>
              <a:rPr lang="ru-RU" b="0">
                <a:solidFill>
                  <a:schemeClr val="accent5"/>
                </a:solidFill>
              </a:rPr>
              <a:t>Ошибка не страшна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0E3C014-67F9-4CD2-9DAD-DD9229F6DBC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 wrap="square">
            <a:normAutofit/>
          </a:bodyPr>
          <a:lstStyle/>
          <a:p>
            <a:r>
              <a:rPr lang="ru-RU">
                <a:solidFill>
                  <a:schemeClr val="tx1"/>
                </a:solidFill>
              </a:rPr>
              <a:t>Питомец не болеет и не пропадает. Звёзды роста не сгорают, неделю можно исправить.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0C941A72-EFAF-44F7-BEB7-6AB833109CE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prstGeom prst="roundRect">
            <a:avLst>
              <a:gd name="adj" fmla="val 0"/>
            </a:avLst>
          </a:prstGeom>
          <a:noFill/>
        </p:spPr>
        <p:txBody>
          <a:bodyPr wrap="square">
            <a:normAutofit/>
          </a:bodyPr>
          <a:lstStyle/>
          <a:p>
            <a:r>
              <a:rPr lang="ru-RU" b="0">
                <a:solidFill>
                  <a:schemeClr val="accent5"/>
                </a:solidFill>
              </a:rPr>
              <a:t>Рост за серию недель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0455AC49-3B10-4E7B-8E60-B114266B10E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 wrap="square">
            <a:normAutofit/>
          </a:bodyPr>
          <a:lstStyle/>
          <a:p>
            <a:r>
              <a:rPr lang="ru-RU">
                <a:solidFill>
                  <a:schemeClr val="tx1"/>
                </a:solidFill>
              </a:rPr>
              <a:t>Малыш, Подросток, Взрослый: стадия меняется только после нескольких хороших недель.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BBBC9E7C-9583-4A41-9E75-CEE9530DD86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prstGeom prst="roundRect">
            <a:avLst>
              <a:gd name="adj" fmla="val 0"/>
            </a:avLst>
          </a:prstGeom>
          <a:noFill/>
        </p:spPr>
        <p:txBody>
          <a:bodyPr wrap="square">
            <a:normAutofit/>
          </a:bodyPr>
          <a:lstStyle/>
          <a:p>
            <a:r>
              <a:rPr lang="ru-RU" b="0">
                <a:solidFill>
                  <a:schemeClr val="accent5"/>
                </a:solidFill>
              </a:rPr>
              <a:t>Забота вместо оценок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BA3A59F4-773A-4619-B45C-1B0EA46D9BB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 wrap="square">
            <a:normAutofit/>
          </a:bodyPr>
          <a:lstStyle/>
          <a:p>
            <a:r>
              <a:rPr lang="ru-RU">
                <a:solidFill>
                  <a:schemeClr val="tx1"/>
                </a:solidFill>
              </a:rPr>
              <a:t>Нет рейтингов и таймеров. Мотивация идёт от желания позаботиться о своём питомце.</a:t>
            </a:r>
          </a:p>
        </p:txBody>
      </p:sp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3FE28FC6-A9E9-4F9B-8446-38D1CD450EF8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8</a:t>
            </a:fld>
            <a:endParaRPr lang="ru-RU" dirty="0">
              <a:solidFill>
                <a:schemeClr val="accent5"/>
              </a:solidFill>
            </a:endParaRP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6A4EDC46-4F2C-4275-9CDC-2BD481E430A8}"/>
              </a:ext>
            </a:extLst>
          </p:cNvPr>
          <p:cNvGrpSpPr/>
          <p:nvPr/>
        </p:nvGrpSpPr>
        <p:grpSpPr>
          <a:xfrm>
            <a:off x="4951937" y="1208819"/>
            <a:ext cx="2268386" cy="4662886"/>
            <a:chOff x="5193506" y="1574276"/>
            <a:chExt cx="1802607" cy="3705431"/>
          </a:xfrm>
        </p:grpSpPr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CADC314F-9F19-4FEA-97AD-07F26F51B620}"/>
                </a:ext>
              </a:extLst>
            </p:cNvPr>
            <p:cNvSpPr/>
            <p:nvPr/>
          </p:nvSpPr>
          <p:spPr>
            <a:xfrm>
              <a:off x="5210727" y="157427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chemeClr val="accent5"/>
            </a:solidFill>
            <a:ln w="9525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5" name="Полилиния: фигура 14">
              <a:extLst>
                <a:ext uri="{FF2B5EF4-FFF2-40B4-BE49-F238E27FC236}">
                  <a16:creationId xmlns:a16="http://schemas.microsoft.com/office/drawing/2014/main" id="{376E7FEE-0EB1-4746-9DDD-1684A7001A8E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6" name="Полилиния: фигура 15">
              <a:extLst>
                <a:ext uri="{FF2B5EF4-FFF2-40B4-BE49-F238E27FC236}">
                  <a16:creationId xmlns:a16="http://schemas.microsoft.com/office/drawing/2014/main" id="{A8C3F5C7-7636-41A4-BA80-3491804B8786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chemeClr val="accent5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: фигура 16">
              <a:extLst>
                <a:ext uri="{FF2B5EF4-FFF2-40B4-BE49-F238E27FC236}">
                  <a16:creationId xmlns:a16="http://schemas.microsoft.com/office/drawing/2014/main" id="{811CD315-417D-43F3-86F1-90773170876F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: фигура 17">
              <a:extLst>
                <a:ext uri="{FF2B5EF4-FFF2-40B4-BE49-F238E27FC236}">
                  <a16:creationId xmlns:a16="http://schemas.microsoft.com/office/drawing/2014/main" id="{2BB8CDF7-2F1E-4B42-A7CD-D11EC8EDA406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9" name="Полилиния: фигура 18">
              <a:extLst>
                <a:ext uri="{FF2B5EF4-FFF2-40B4-BE49-F238E27FC236}">
                  <a16:creationId xmlns:a16="http://schemas.microsoft.com/office/drawing/2014/main" id="{68B6A556-7D40-478D-84FB-4EF0FC7DA59F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12827976-DC27-4EAF-8E52-EBEFEC7E0761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: фигура 20">
              <a:extLst>
                <a:ext uri="{FF2B5EF4-FFF2-40B4-BE49-F238E27FC236}">
                  <a16:creationId xmlns:a16="http://schemas.microsoft.com/office/drawing/2014/main" id="{6530F195-F566-483B-94CE-768CC428E39B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: фигура 21">
              <a:extLst>
                <a:ext uri="{FF2B5EF4-FFF2-40B4-BE49-F238E27FC236}">
                  <a16:creationId xmlns:a16="http://schemas.microsoft.com/office/drawing/2014/main" id="{18CA254A-9E3B-4352-82B2-BA84B9F413EC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: фигура 22">
              <a:extLst>
                <a:ext uri="{FF2B5EF4-FFF2-40B4-BE49-F238E27FC236}">
                  <a16:creationId xmlns:a16="http://schemas.microsoft.com/office/drawing/2014/main" id="{04273616-0536-4E9E-A4BE-5D7114D4C4E6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81AF835D-BC32-4CF6-9D53-BC9BE3935788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" name="Полилиния: фигура 24">
              <a:extLst>
                <a:ext uri="{FF2B5EF4-FFF2-40B4-BE49-F238E27FC236}">
                  <a16:creationId xmlns:a16="http://schemas.microsoft.com/office/drawing/2014/main" id="{668C5EB7-3AC0-4913-B7E5-76B46FFF714C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" name="Полилиния: фигура 25">
              <a:extLst>
                <a:ext uri="{FF2B5EF4-FFF2-40B4-BE49-F238E27FC236}">
                  <a16:creationId xmlns:a16="http://schemas.microsoft.com/office/drawing/2014/main" id="{18FAB6AC-0AD1-4123-96B1-6FDD727A66D6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" name="Полилиния: фигура 26">
              <a:extLst>
                <a:ext uri="{FF2B5EF4-FFF2-40B4-BE49-F238E27FC236}">
                  <a16:creationId xmlns:a16="http://schemas.microsoft.com/office/drawing/2014/main" id="{E0079DE2-1327-4F2F-A9D1-235DB5B2BB66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" name="Полилиния: фигура 27">
              <a:extLst>
                <a:ext uri="{FF2B5EF4-FFF2-40B4-BE49-F238E27FC236}">
                  <a16:creationId xmlns:a16="http://schemas.microsoft.com/office/drawing/2014/main" id="{8563A0D3-DD5F-48FE-8A05-4C2D704CE07C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9" name="Полилиния: фигура 28">
              <a:extLst>
                <a:ext uri="{FF2B5EF4-FFF2-40B4-BE49-F238E27FC236}">
                  <a16:creationId xmlns:a16="http://schemas.microsoft.com/office/drawing/2014/main" id="{8452619C-3E15-4DC5-AB4B-6C88B9322F63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" name="Полилиния: фигура 29">
              <a:extLst>
                <a:ext uri="{FF2B5EF4-FFF2-40B4-BE49-F238E27FC236}">
                  <a16:creationId xmlns:a16="http://schemas.microsoft.com/office/drawing/2014/main" id="{824479CF-8277-41BF-A7D4-9E38E5D3A492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1" name="Полилиния: фигура 30">
              <a:extLst>
                <a:ext uri="{FF2B5EF4-FFF2-40B4-BE49-F238E27FC236}">
                  <a16:creationId xmlns:a16="http://schemas.microsoft.com/office/drawing/2014/main" id="{0B62DAC2-F1F4-4ECF-851D-BEC23148FE5D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2" name="Полилиния: фигура 31">
              <a:extLst>
                <a:ext uri="{FF2B5EF4-FFF2-40B4-BE49-F238E27FC236}">
                  <a16:creationId xmlns:a16="http://schemas.microsoft.com/office/drawing/2014/main" id="{45311E48-AC2A-4A80-A65A-D356CC01C1AC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pic>
          <p:nvPicPr>
            <p:cNvPr id="33" name="Рисунок 32">
              <a:extLst>
                <a:ext uri="{FF2B5EF4-FFF2-40B4-BE49-F238E27FC236}">
                  <a16:creationId xmlns:a16="http://schemas.microsoft.com/office/drawing/2014/main" id="{104AE29B-276D-4F69-9E54-6CBD0BE758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34" name="Полилиния: фигура 33">
              <a:extLst>
                <a:ext uri="{FF2B5EF4-FFF2-40B4-BE49-F238E27FC236}">
                  <a16:creationId xmlns:a16="http://schemas.microsoft.com/office/drawing/2014/main" id="{4FAE68B0-E6D3-4A99-8C27-FF0701E8FAD5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5" name="Полилиния: фигура 34">
              <a:extLst>
                <a:ext uri="{FF2B5EF4-FFF2-40B4-BE49-F238E27FC236}">
                  <a16:creationId xmlns:a16="http://schemas.microsoft.com/office/drawing/2014/main" id="{81A0CB6C-0D74-4877-B97D-73B7D6B320F5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" name="Полилиния: фигура 35">
              <a:extLst>
                <a:ext uri="{FF2B5EF4-FFF2-40B4-BE49-F238E27FC236}">
                  <a16:creationId xmlns:a16="http://schemas.microsoft.com/office/drawing/2014/main" id="{7237E626-D311-4B83-8DBA-12DC3F813C32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7" name="Полилиния: фигура 36">
              <a:extLst>
                <a:ext uri="{FF2B5EF4-FFF2-40B4-BE49-F238E27FC236}">
                  <a16:creationId xmlns:a16="http://schemas.microsoft.com/office/drawing/2014/main" id="{F61B8E82-D4DC-41E9-B74B-4125D6F227F0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39" name="Заголовок 13">
            <a:extLst>
              <a:ext uri="{FF2B5EF4-FFF2-40B4-BE49-F238E27FC236}">
                <a16:creationId xmlns:a16="http://schemas.microsoft.com/office/drawing/2014/main" id="{8E1F3D1B-B48D-3959-B6E3-253BFA6E3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ПОЧЕМУ ПИТОМЕЦ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0647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/>
          <p:nvPr/>
        </p:nvSpPr>
        <p:spPr>
          <a:xfrm>
            <a:off x="346075" y="324562"/>
            <a:ext cx="3740859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9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89C5FEE7-8855-4287-AE2D-52539F4D5F3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 wrap="square">
            <a:normAutofit/>
          </a:bodyPr>
          <a:lstStyle/>
          <a:p>
            <a:r>
              <a:rPr lang="ru-RU" b="0">
                <a:solidFill>
                  <a:schemeClr val="accent5"/>
                </a:solidFill>
              </a:rPr>
              <a:t>Знакомство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B2C021-BD44-4085-92C0-42B29CA7DD4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814077"/>
            <a:ext cx="2526079" cy="1120685"/>
          </a:xfrm>
        </p:spPr>
        <p:txBody>
          <a:bodyPr wrap="square">
            <a:normAutofit/>
          </a:bodyPr>
          <a:lstStyle/>
          <a:p>
            <a:r>
              <a:rPr lang="ru-RU">
                <a:solidFill>
                  <a:schemeClr val="tx1"/>
                </a:solidFill>
              </a:rPr>
              <a:t>Три коротких экрана, питомец: вид, пол, цвет, имя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26F0F5-5C67-466D-943E-F4703B2F27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 wrap="square">
            <a:normAutofit/>
          </a:bodyPr>
          <a:lstStyle/>
          <a:p>
            <a:r>
              <a:rPr lang="ru-RU" b="0">
                <a:solidFill>
                  <a:schemeClr val="accent5"/>
                </a:solidFill>
              </a:rPr>
              <a:t>Решения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D4997F-BA2F-417E-957D-7B6FF608CC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814077"/>
            <a:ext cx="2526079" cy="1120685"/>
          </a:xfrm>
        </p:spPr>
        <p:txBody>
          <a:bodyPr wrap="square">
            <a:normAutofit/>
          </a:bodyPr>
          <a:lstStyle/>
          <a:p>
            <a:r>
              <a:rPr lang="ru-RU">
                <a:solidFill>
                  <a:schemeClr val="tx1"/>
                </a:solidFill>
              </a:rPr>
              <a:t>Покупки, задания, копилка и сообщения в телефоне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04BBFFE-3199-451F-A356-405FEE6461C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 wrap="square">
            <a:normAutofit/>
          </a:bodyPr>
          <a:lstStyle/>
          <a:p>
            <a:r>
              <a:rPr lang="ru-RU" b="0">
                <a:solidFill>
                  <a:schemeClr val="accent5"/>
                </a:solidFill>
              </a:rPr>
              <a:t>Рост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B529974-604C-48E2-AD6F-070B19225F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814077"/>
            <a:ext cx="2526079" cy="1120685"/>
          </a:xfrm>
        </p:spPr>
        <p:txBody>
          <a:bodyPr wrap="square">
            <a:normAutofit/>
          </a:bodyPr>
          <a:lstStyle/>
          <a:p>
            <a:r>
              <a:rPr lang="ru-RU">
                <a:solidFill>
                  <a:schemeClr val="tx1"/>
                </a:solidFill>
              </a:rPr>
              <a:t>Новая неделя. Стадия меняется после серии недель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9C425FA5-5D8B-4070-9FEA-743FFC23DC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 wrap="square">
            <a:normAutofit/>
          </a:bodyPr>
          <a:lstStyle/>
          <a:p>
            <a:r>
              <a:rPr lang="ru-RU" b="0">
                <a:solidFill>
                  <a:schemeClr val="accent5"/>
                </a:solidFill>
              </a:rPr>
              <a:t>План недели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E4BE6CF-D653-4C71-B520-8F640E846D6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5181340"/>
            <a:ext cx="2526079" cy="1120685"/>
          </a:xfrm>
        </p:spPr>
        <p:txBody>
          <a:bodyPr wrap="square">
            <a:normAutofit/>
          </a:bodyPr>
          <a:lstStyle/>
          <a:p>
            <a:r>
              <a:rPr lang="ru-RU">
                <a:solidFill>
                  <a:schemeClr val="tx1"/>
                </a:solidFill>
              </a:rPr>
              <a:t>+100 монеток, ползунки: нужное, хочу, копилка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E93D78-FBF8-4CFA-B0D4-B21070DBC3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 wrap="square">
            <a:normAutofit/>
          </a:bodyPr>
          <a:lstStyle/>
          <a:p>
            <a:r>
              <a:rPr lang="ru-RU" b="0">
                <a:solidFill>
                  <a:schemeClr val="accent5"/>
                </a:solidFill>
              </a:rPr>
              <a:t>Итоги недели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931BD573-963A-40B6-8E80-802A897ACB2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5181340"/>
            <a:ext cx="2526079" cy="1120685"/>
          </a:xfrm>
        </p:spPr>
        <p:txBody>
          <a:bodyPr wrap="square">
            <a:normAutofit/>
          </a:bodyPr>
          <a:lstStyle/>
          <a:p>
            <a:r>
              <a:rPr lang="ru-RU">
                <a:solidFill>
                  <a:schemeClr val="tx1"/>
                </a:solidFill>
              </a:rPr>
              <a:t>План и факт, до 3 звёзд, реакция питомца</a:t>
            </a: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FED623D4-5E7E-44FB-A655-80D9166ACECF}"/>
              </a:ext>
            </a:extLst>
          </p:cNvPr>
          <p:cNvCxnSpPr>
            <a:cxnSpLocks/>
          </p:cNvCxnSpPr>
          <p:nvPr/>
        </p:nvCxnSpPr>
        <p:spPr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13BC568E-FCE4-46A3-933D-4F9F8325A813}"/>
              </a:ext>
            </a:extLst>
          </p:cNvPr>
          <p:cNvCxnSpPr>
            <a:cxnSpLocks/>
          </p:cNvCxnSpPr>
          <p:nvPr/>
        </p:nvCxnSpPr>
        <p:spPr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043ABED0-AC0F-4D92-AB29-318DAE79D38B}"/>
              </a:ext>
            </a:extLst>
          </p:cNvPr>
          <p:cNvCxnSpPr>
            <a:cxnSpLocks/>
          </p:cNvCxnSpPr>
          <p:nvPr/>
        </p:nvCxnSpPr>
        <p:spPr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836D684E-425A-4867-B96C-B1550D2326EC}"/>
              </a:ext>
            </a:extLst>
          </p:cNvPr>
          <p:cNvCxnSpPr>
            <a:cxnSpLocks/>
          </p:cNvCxnSpPr>
          <p:nvPr/>
        </p:nvCxnSpPr>
        <p:spPr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81B30F67-B043-4D47-8D41-EA47E7D98286}"/>
              </a:ext>
            </a:extLst>
          </p:cNvPr>
          <p:cNvCxnSpPr>
            <a:cxnSpLocks/>
          </p:cNvCxnSpPr>
          <p:nvPr/>
        </p:nvCxnSpPr>
        <p:spPr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B41E618C-6887-4F78-8BEC-4C2ABC30AC44}"/>
              </a:ext>
            </a:extLst>
          </p:cNvPr>
          <p:cNvCxnSpPr>
            <a:cxnSpLocks/>
          </p:cNvCxnSpPr>
          <p:nvPr/>
        </p:nvCxnSpPr>
        <p:spPr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DE971D4E-B203-4B09-93F8-D53951540777}"/>
              </a:ext>
            </a:extLst>
          </p:cNvPr>
          <p:cNvCxnSpPr>
            <a:cxnSpLocks/>
          </p:cNvCxnSpPr>
          <p:nvPr/>
        </p:nvCxnSpPr>
        <p:spPr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2BF27CC0-A85F-4C49-884A-649E718F232A}"/>
              </a:ext>
            </a:extLst>
          </p:cNvPr>
          <p:cNvCxnSpPr>
            <a:cxnSpLocks/>
          </p:cNvCxnSpPr>
          <p:nvPr/>
        </p:nvCxnSpPr>
        <p:spPr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8A19CF67-915F-4390-A30E-945C95016756}"/>
              </a:ext>
            </a:extLst>
          </p:cNvPr>
          <p:cNvCxnSpPr>
            <a:cxnSpLocks/>
          </p:cNvCxnSpPr>
          <p:nvPr/>
        </p:nvCxnSpPr>
        <p:spPr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Скругленный прямоугольник 42">
            <a:extLst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/>
          <p:nvPr/>
        </p:nvSpPr>
        <p:spPr>
          <a:xfrm>
            <a:off x="1191126" y="3508049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1</a:t>
            </a:r>
          </a:p>
        </p:txBody>
      </p:sp>
      <p:sp>
        <p:nvSpPr>
          <p:cNvPr id="44" name="Скругленный прямоугольник 43">
            <a:extLst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/>
          <p:nvPr/>
        </p:nvSpPr>
        <p:spPr>
          <a:xfrm>
            <a:off x="3412397" y="350613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2</a:t>
            </a:r>
          </a:p>
        </p:txBody>
      </p:sp>
      <p:sp>
        <p:nvSpPr>
          <p:cNvPr id="45" name="Скругленный прямоугольник 44">
            <a:extLst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/>
          <p:nvPr/>
        </p:nvSpPr>
        <p:spPr>
          <a:xfrm>
            <a:off x="5658594" y="351625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3</a:t>
            </a:r>
          </a:p>
        </p:txBody>
      </p:sp>
      <p:sp>
        <p:nvSpPr>
          <p:cNvPr id="53" name="Скругленный прямоугольник 52">
            <a:extLst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/>
          <p:nvPr/>
        </p:nvSpPr>
        <p:spPr>
          <a:xfrm>
            <a:off x="7889752" y="350613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4</a:t>
            </a:r>
          </a:p>
        </p:txBody>
      </p:sp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/>
          <p:nvPr/>
        </p:nvSpPr>
        <p:spPr>
          <a:xfrm>
            <a:off x="10113012" y="353862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5</a:t>
            </a:r>
          </a:p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ПУТЬ ПОЛЬЗОВАТЕЛЯ</a:t>
            </a:r>
            <a:endParaRPr lang="ru-RU" dirty="0"/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/>
          <p:nvPr/>
        </p:nvSpPr>
        <p:spPr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/>
          <p:nvPr/>
        </p:nvSpPr>
        <p:spPr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/>
          <p:nvPr/>
        </p:nvSpPr>
        <p:spPr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/>
          <p:nvPr/>
        </p:nvSpPr>
        <p:spPr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/>
          <p:nvPr/>
        </p:nvSpPr>
        <p:spPr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/>
          <p:nvPr/>
        </p:nvSpPr>
        <p:spPr>
          <a:xfrm>
            <a:off x="346075" y="324562"/>
            <a:ext cx="3885322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/>
          <p:nvPr/>
        </p:nvSpPr>
        <p:spPr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/>
          <p:nvPr/>
        </p:nvSpPr>
        <p:spPr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/>
          <p:nvPr/>
        </p:nvSpPr>
        <p:spPr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/>
          <p:nvPr/>
        </p:nvSpPr>
        <p:spPr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/>
          <p:nvPr/>
        </p:nvSpPr>
        <p:spPr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/>
          <p:nvPr/>
        </p:nvSpPr>
        <p:spPr>
          <a:xfrm>
            <a:off x="346076" y="1366423"/>
            <a:ext cx="5389562" cy="4834352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2730" y="1445505"/>
            <a:ext cx="5460470" cy="600112"/>
          </a:xfrm>
          <a:noFill/>
          <a:ln>
            <a:noFill/>
          </a:ln>
        </p:spPr>
        <p:txBody>
          <a:bodyPr wrap="square">
            <a:normAutofit/>
          </a:bodyPr>
          <a:lstStyle/>
          <a:p>
            <a:r>
              <a:rPr lang="ru-RU">
                <a:solidFill>
                  <a:schemeClr val="tx1"/>
                </a:solidFill>
              </a:rPr>
              <a:t>Доход: +100 в неделю, задания +15 и +20, бонус взрослого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72730" y="2472872"/>
            <a:ext cx="5460470" cy="600112"/>
          </a:xfrm>
          <a:noFill/>
          <a:ln>
            <a:noFill/>
          </a:ln>
        </p:spPr>
        <p:txBody>
          <a:bodyPr wrap="square">
            <a:normAutofit/>
          </a:bodyPr>
          <a:lstStyle/>
          <a:p>
            <a:r>
              <a:rPr lang="ru-RU">
                <a:solidFill>
                  <a:schemeClr val="tx1"/>
                </a:solidFill>
              </a:rPr>
              <a:t>План: сумма трёх частей не больше кошелька, шаг 5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2730" y="3485922"/>
            <a:ext cx="5460470" cy="600112"/>
          </a:xfrm>
          <a:noFill/>
          <a:ln>
            <a:noFill/>
          </a:ln>
        </p:spPr>
        <p:txBody>
          <a:bodyPr wrap="square">
            <a:normAutofit/>
          </a:bodyPr>
          <a:lstStyle/>
          <a:p>
            <a:r>
              <a:rPr lang="ru-RU">
                <a:solidFill>
                  <a:schemeClr val="tx1"/>
                </a:solidFill>
              </a:rPr>
              <a:t>Покупка: только если хватает монеток, сверх плана с предупреждением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2730" y="4496593"/>
            <a:ext cx="5460470" cy="600112"/>
          </a:xfrm>
          <a:noFill/>
          <a:ln>
            <a:noFill/>
          </a:ln>
        </p:spPr>
        <p:txBody>
          <a:bodyPr wrap="square">
            <a:normAutofit/>
          </a:bodyPr>
          <a:lstStyle/>
          <a:p>
            <a:r>
              <a:rPr lang="ru-RU">
                <a:solidFill>
                  <a:schemeClr val="tx1"/>
                </a:solidFill>
              </a:rPr>
              <a:t>Копилка: срок до цели = остаток / среднее пополнение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2730" y="5516924"/>
            <a:ext cx="5460470" cy="600112"/>
          </a:xfrm>
          <a:noFill/>
          <a:ln>
            <a:noFill/>
          </a:ln>
        </p:spPr>
        <p:txBody>
          <a:bodyPr wrap="square">
            <a:normAutofit/>
          </a:bodyPr>
          <a:lstStyle/>
          <a:p>
            <a:r>
              <a:rPr lang="ru-RU">
                <a:solidFill>
                  <a:schemeClr val="tx1"/>
                </a:solidFill>
              </a:rPr>
              <a:t>Звёзды: нужное, план, копилка. Подросток с 5, Взрослый с 10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ИГРОВАЯ ЭКОНОМИКА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5540A62-4463-45BB-8070-1EBB155EDB2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97" y="1473200"/>
            <a:ext cx="4364006" cy="463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895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85992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11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0B115FEC-D79C-233C-419E-0B0BE3EB4A0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20913" y="2339783"/>
            <a:ext cx="2284071" cy="423628"/>
          </a:xfrm>
        </p:spPr>
        <p:txBody>
          <a:bodyPr wrap="square">
            <a:normAutofit/>
          </a:bodyPr>
          <a:lstStyle/>
          <a:p>
            <a:r>
              <a:rPr lang="ru-RU">
                <a:solidFill>
                  <a:srgbClr val="F92571"/>
                </a:solidFill>
              </a:rPr>
              <a:t>Бюджет и покупки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20913" y="3128740"/>
            <a:ext cx="2284071" cy="2797928"/>
          </a:xfrm>
        </p:spPr>
        <p:txBody>
          <a:bodyPr wrap="square">
            <a:normAutofit/>
          </a:bodyPr>
          <a:lstStyle/>
          <a:p>
            <a:r>
              <a:rPr lang="ru-RU">
                <a:solidFill>
                  <a:schemeClr val="tx1"/>
                </a:solidFill>
              </a:rPr>
              <a:t>План ползунками. 12 товаров двух типов. В магазине видно остаток по плану, перед тратой сверх плана появляется предупреждение.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670742-0112-ABA9-7C47-FE6D64A30A9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457903" y="2373557"/>
            <a:ext cx="2337416" cy="403756"/>
          </a:xfrm>
        </p:spPr>
        <p:txBody>
          <a:bodyPr wrap="square">
            <a:normAutofit/>
          </a:bodyPr>
          <a:lstStyle/>
          <a:p>
            <a:r>
              <a:rPr lang="ru-RU">
                <a:solidFill>
                  <a:srgbClr val="F92571"/>
                </a:solidFill>
              </a:rPr>
              <a:t>Копилка и цели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5C658C-1FD4-CD12-D517-15F6F46CFE3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457903" y="3134070"/>
            <a:ext cx="2337416" cy="2797928"/>
          </a:xfrm>
        </p:spPr>
        <p:txBody>
          <a:bodyPr wrap="square">
            <a:normAutofit/>
          </a:bodyPr>
          <a:lstStyle/>
          <a:p>
            <a:r>
              <a:rPr lang="ru-RU">
                <a:solidFill>
                  <a:schemeClr val="tx1"/>
                </a:solidFill>
              </a:rPr>
              <a:t>Три цели и своя. Пополнение, снятие только после подтверждения, срок до цели.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FAFE374-953E-0336-76DE-D143BB9C64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456363" y="2379657"/>
            <a:ext cx="2268537" cy="403913"/>
          </a:xfrm>
        </p:spPr>
        <p:txBody>
          <a:bodyPr wrap="square">
            <a:normAutofit/>
          </a:bodyPr>
          <a:lstStyle/>
          <a:p>
            <a:r>
              <a:rPr lang="ru-RU">
                <a:solidFill>
                  <a:srgbClr val="F92571"/>
                </a:solidFill>
              </a:rPr>
              <a:t>Задания и телефон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56363" y="3136604"/>
            <a:ext cx="2268537" cy="2797928"/>
          </a:xfrm>
        </p:spPr>
        <p:txBody>
          <a:bodyPr wrap="square">
            <a:normAutofit/>
          </a:bodyPr>
          <a:lstStyle/>
          <a:p>
            <a:r>
              <a:rPr lang="ru-RU">
                <a:solidFill>
                  <a:schemeClr val="tx1"/>
                </a:solidFill>
              </a:rPr>
              <a:t>9 заданий по 3 темам, 6 видов механик. 6 переписок, из них 3 с мошенниками.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8E32729-5FCC-21EA-16FD-CEF0C8FAABA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407534" y="2339783"/>
            <a:ext cx="2263553" cy="423628"/>
          </a:xfrm>
        </p:spPr>
        <p:txBody>
          <a:bodyPr wrap="square">
            <a:normAutofit/>
          </a:bodyPr>
          <a:lstStyle/>
          <a:p>
            <a:r>
              <a:rPr lang="ru-RU">
                <a:solidFill>
                  <a:srgbClr val="F92571"/>
                </a:solidFill>
              </a:rPr>
              <a:t>Границы прототипа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6A6BF68-6470-CE0D-3E5F-0B15EDDCA14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407534" y="3128739"/>
            <a:ext cx="2263553" cy="2797928"/>
          </a:xfrm>
        </p:spPr>
        <p:txBody>
          <a:bodyPr wrap="square">
            <a:normAutofit/>
          </a:bodyPr>
          <a:lstStyle/>
          <a:p>
            <a:r>
              <a:rPr lang="ru-RU">
                <a:solidFill>
                  <a:schemeClr val="tx1"/>
                </a:solidFill>
              </a:rPr>
              <a:t>Нет реальных денег, рекламы, покупок и сервера. Нет регистрации и персональных данных. Работает без интернета.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ФУНКЦИИ И ГРАНИЦЫ</a:t>
            </a:r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772416"/>
            <a:ext cx="771003" cy="423628"/>
          </a:xfrm>
        </p:spPr>
        <p:txBody>
          <a:bodyPr/>
          <a:lstStyle/>
          <a:p>
            <a:r>
              <a:rPr lang="ru-RU" b="1">
                <a:solidFill>
                  <a:schemeClr val="accent5"/>
                </a:solidFill>
              </a:rPr>
              <a:t>01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DE8FDF14-E7C8-6EE3-EBD8-B5DDE4F7F60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449944" y="1766200"/>
            <a:ext cx="771003" cy="403756"/>
          </a:xfrm>
        </p:spPr>
        <p:txBody>
          <a:bodyPr/>
          <a:lstStyle/>
          <a:p>
            <a:r>
              <a:rPr lang="ru-RU" b="1">
                <a:solidFill>
                  <a:schemeClr val="accent5"/>
                </a:solidFill>
              </a:rPr>
              <a:t>02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456363" y="1766043"/>
            <a:ext cx="771003" cy="403913"/>
          </a:xfrm>
        </p:spPr>
        <p:txBody>
          <a:bodyPr/>
          <a:lstStyle/>
          <a:p>
            <a:r>
              <a:rPr lang="ru-RU" b="1">
                <a:solidFill>
                  <a:schemeClr val="accent5"/>
                </a:solidFill>
              </a:rPr>
              <a:t>03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59F6129C-95BA-0836-7395-00F4830237D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407534" y="1772416"/>
            <a:ext cx="771003" cy="423628"/>
          </a:xfrm>
        </p:spPr>
        <p:txBody>
          <a:bodyPr/>
          <a:lstStyle/>
          <a:p>
            <a:r>
              <a:rPr lang="ru-RU" b="1">
                <a:solidFill>
                  <a:schemeClr val="accent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FBB63B91-423A-42B2-8A94-643F2329AC6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1936" y="1120110"/>
            <a:ext cx="1726214" cy="3657600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188A5B92-D9DA-4C03-AF81-BC2993903276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2863" y="1144729"/>
            <a:ext cx="1726214" cy="365760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E853AD9C-065D-4293-B076-1CB40E771435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0385" y="1139854"/>
            <a:ext cx="1726214" cy="365760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4344C092-5CDA-44C7-832C-317F0A971FD3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995" y="1139854"/>
            <a:ext cx="1726214" cy="3657600"/>
          </a:xfrm>
          <a:prstGeom prst="rect">
            <a:avLst/>
          </a:prstGeom>
        </p:spPr>
      </p:pic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372E3068-986E-9BBB-5D18-64091C039ECC}"/>
              </a:ext>
            </a:extLst>
          </p:cNvPr>
          <p:cNvSpPr/>
          <p:nvPr/>
        </p:nvSpPr>
        <p:spPr>
          <a:xfrm>
            <a:off x="401057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B8BFB44-8926-1FDF-4E57-C5ADDA0407C0}"/>
              </a:ext>
            </a:extLst>
          </p:cNvPr>
          <p:cNvSpPr/>
          <p:nvPr/>
        </p:nvSpPr>
        <p:spPr>
          <a:xfrm>
            <a:off x="3302625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87E602FF-7E26-F668-96F3-CBB1BFAE5C17}"/>
              </a:ext>
            </a:extLst>
          </p:cNvPr>
          <p:cNvSpPr/>
          <p:nvPr/>
        </p:nvSpPr>
        <p:spPr>
          <a:xfrm>
            <a:off x="6204193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DB4A97A4-D44E-1F60-1759-1E959FA4D289}"/>
              </a:ext>
            </a:extLst>
          </p:cNvPr>
          <p:cNvSpPr/>
          <p:nvPr/>
        </p:nvSpPr>
        <p:spPr>
          <a:xfrm>
            <a:off x="9105761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F7C252A-35BF-DB93-9627-7E3B7BBEB1F9}"/>
              </a:ext>
            </a:extLst>
          </p:cNvPr>
          <p:cNvSpPr/>
          <p:nvPr/>
        </p:nvSpPr>
        <p:spPr>
          <a:xfrm>
            <a:off x="346075" y="324562"/>
            <a:ext cx="4594934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A7D045A-A8EF-4758-822A-D4C79AEC50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E888D882-21EA-4859-AD0B-F83535D5711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9155" y="5035451"/>
            <a:ext cx="2658088" cy="1271340"/>
          </a:xfrm>
        </p:spPr>
        <p:txBody>
          <a:bodyPr wrap="square">
            <a:normAutofit/>
          </a:bodyPr>
          <a:lstStyle/>
          <a:p>
            <a:r>
              <a:rPr lang="ru-RU" b="1">
                <a:solidFill>
                  <a:schemeClr val="accent5"/>
                </a:solidFill>
                <a:latin typeface="+mj-lt"/>
              </a:rPr>
              <a:t>План ползунками</a:t>
            </a:r>
          </a:p>
          <a:p>
            <a:r>
              <a:rPr lang="ru-RU">
                <a:solidFill>
                  <a:schemeClr val="accent5"/>
                </a:solidFill>
                <a:latin typeface="+mj-lt"/>
              </a:rPr>
              <a:t>Шаг 5, остаток виден сразу, кнопки от 48 dp</a:t>
            </a:r>
            <a:endParaRPr lang="ru-RU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4512A82-0FB0-43DF-93BA-4AAE010B0E7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02624" y="5035451"/>
            <a:ext cx="2706185" cy="1271340"/>
          </a:xfrm>
        </p:spPr>
        <p:txBody>
          <a:bodyPr wrap="square">
            <a:normAutofit/>
          </a:bodyPr>
          <a:lstStyle/>
          <a:p>
            <a:r>
              <a:rPr lang="ru-RU" b="1">
                <a:solidFill>
                  <a:schemeClr val="accent5"/>
                </a:solidFill>
                <a:latin typeface="+mj-lt"/>
              </a:rPr>
              <a:t>Стоп перед тратой</a:t>
            </a:r>
          </a:p>
          <a:p>
            <a:r>
              <a:rPr lang="ru-RU">
                <a:solidFill>
                  <a:schemeClr val="accent5"/>
                </a:solidFill>
                <a:latin typeface="+mj-lt"/>
              </a:rPr>
              <a:t>Покупка сверх плана: объяснение и выбор</a:t>
            </a:r>
            <a:endParaRPr lang="ru-RU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F3FD380F-869A-4817-B010-68C40DCD76C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04192" y="5035451"/>
            <a:ext cx="2728103" cy="1271340"/>
          </a:xfrm>
        </p:spPr>
        <p:txBody>
          <a:bodyPr wrap="square">
            <a:normAutofit/>
          </a:bodyPr>
          <a:lstStyle/>
          <a:p>
            <a:r>
              <a:rPr lang="ru-RU" b="1">
                <a:solidFill>
                  <a:schemeClr val="accent5"/>
                </a:solidFill>
                <a:latin typeface="+mj-lt"/>
              </a:rPr>
              <a:t>Питомец просит помощи</a:t>
            </a:r>
          </a:p>
          <a:p>
            <a:r>
              <a:rPr lang="ru-RU">
                <a:solidFill>
                  <a:schemeClr val="accent5"/>
                </a:solidFill>
                <a:latin typeface="+mj-lt"/>
              </a:rPr>
              <a:t>Что не так и где это исправить</a:t>
            </a:r>
            <a:endParaRPr lang="ru-RU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B78F308C-1886-4E54-A21C-8947C5BAC39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5035451"/>
            <a:ext cx="2739248" cy="1271340"/>
          </a:xfrm>
        </p:spPr>
        <p:txBody>
          <a:bodyPr wrap="square">
            <a:normAutofit/>
          </a:bodyPr>
          <a:lstStyle/>
          <a:p>
            <a:r>
              <a:rPr lang="ru-RU" b="1">
                <a:solidFill>
                  <a:schemeClr val="accent5"/>
                </a:solidFill>
                <a:latin typeface="+mj-lt"/>
              </a:rPr>
              <a:t>Игровой телефон</a:t>
            </a:r>
          </a:p>
          <a:p>
            <a:r>
              <a:rPr lang="ru-RU">
                <a:solidFill>
                  <a:schemeClr val="accent5"/>
                </a:solidFill>
                <a:latin typeface="+mj-lt"/>
              </a:rPr>
              <a:t>Разбор обмана после каждого разговора</a:t>
            </a:r>
          </a:p>
        </p:txBody>
      </p:sp>
      <p:grpSp>
        <p:nvGrpSpPr>
          <p:cNvPr id="122" name="Группа 121">
            <a:extLst>
              <a:ext uri="{FF2B5EF4-FFF2-40B4-BE49-F238E27FC236}">
                <a16:creationId xmlns:a16="http://schemas.microsoft.com/office/drawing/2014/main" id="{31250022-45D9-F12D-3C47-EF28765F4C31}"/>
              </a:ext>
            </a:extLst>
          </p:cNvPr>
          <p:cNvGrpSpPr/>
          <p:nvPr/>
        </p:nvGrpSpPr>
        <p:grpSpPr>
          <a:xfrm>
            <a:off x="997191" y="1096813"/>
            <a:ext cx="1821822" cy="3745203"/>
            <a:chOff x="5193506" y="1574006"/>
            <a:chExt cx="1802607" cy="3705701"/>
          </a:xfrm>
        </p:grpSpPr>
        <p:sp>
          <p:nvSpPr>
            <p:cNvPr id="123" name="Полилиния: фигура 13">
              <a:extLst>
                <a:ext uri="{FF2B5EF4-FFF2-40B4-BE49-F238E27FC236}">
                  <a16:creationId xmlns:a16="http://schemas.microsoft.com/office/drawing/2014/main" id="{24AEA150-DD4F-B078-FF83-FEE03143696E}"/>
                </a:ext>
              </a:extLst>
            </p:cNvPr>
            <p:cNvSpPr/>
            <p:nvPr/>
          </p:nvSpPr>
          <p:spPr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24" name="Полилиния: фигура 14">
              <a:extLst>
                <a:ext uri="{FF2B5EF4-FFF2-40B4-BE49-F238E27FC236}">
                  <a16:creationId xmlns:a16="http://schemas.microsoft.com/office/drawing/2014/main" id="{99E94FA1-5BB5-0D58-4BBD-DE5C76358423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25" name="Полилиния: фигура 15">
              <a:extLst>
                <a:ext uri="{FF2B5EF4-FFF2-40B4-BE49-F238E27FC236}">
                  <a16:creationId xmlns:a16="http://schemas.microsoft.com/office/drawing/2014/main" id="{EC571396-05D0-35C1-5295-C7D257F4D92F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6" name="Полилиния: фигура 16">
              <a:extLst>
                <a:ext uri="{FF2B5EF4-FFF2-40B4-BE49-F238E27FC236}">
                  <a16:creationId xmlns:a16="http://schemas.microsoft.com/office/drawing/2014/main" id="{9B732ADF-E9DA-13D4-42DD-BC54854010DA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7" name="Полилиния: фигура 17">
              <a:extLst>
                <a:ext uri="{FF2B5EF4-FFF2-40B4-BE49-F238E27FC236}">
                  <a16:creationId xmlns:a16="http://schemas.microsoft.com/office/drawing/2014/main" id="{0678F81A-528D-A550-D258-6BBE42EEC68D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8" name="Полилиния: фигура 18">
              <a:extLst>
                <a:ext uri="{FF2B5EF4-FFF2-40B4-BE49-F238E27FC236}">
                  <a16:creationId xmlns:a16="http://schemas.microsoft.com/office/drawing/2014/main" id="{25414295-E7C9-1A32-CA87-C03CF520D7C8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9" name="Полилиния: фигура 19">
              <a:extLst>
                <a:ext uri="{FF2B5EF4-FFF2-40B4-BE49-F238E27FC236}">
                  <a16:creationId xmlns:a16="http://schemas.microsoft.com/office/drawing/2014/main" id="{E8A820F9-852B-9D6F-4958-7115D82B7838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0" name="Полилиния: фигура 20">
              <a:extLst>
                <a:ext uri="{FF2B5EF4-FFF2-40B4-BE49-F238E27FC236}">
                  <a16:creationId xmlns:a16="http://schemas.microsoft.com/office/drawing/2014/main" id="{A1CF9CF3-386D-EAF7-4826-6711831475A0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1" name="Полилиния: фигура 21">
              <a:extLst>
                <a:ext uri="{FF2B5EF4-FFF2-40B4-BE49-F238E27FC236}">
                  <a16:creationId xmlns:a16="http://schemas.microsoft.com/office/drawing/2014/main" id="{96508A4E-34F4-C72C-8A4A-3D35D6C3DB38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2" name="Полилиния: фигура 22">
              <a:extLst>
                <a:ext uri="{FF2B5EF4-FFF2-40B4-BE49-F238E27FC236}">
                  <a16:creationId xmlns:a16="http://schemas.microsoft.com/office/drawing/2014/main" id="{51EB21C3-71D0-415B-6856-697384359B8F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3" name="Полилиния: фигура 23">
              <a:extLst>
                <a:ext uri="{FF2B5EF4-FFF2-40B4-BE49-F238E27FC236}">
                  <a16:creationId xmlns:a16="http://schemas.microsoft.com/office/drawing/2014/main" id="{0466A1BA-47FF-C618-565D-0CBFDCEEC700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4" name="Полилиния: фигура 24">
              <a:extLst>
                <a:ext uri="{FF2B5EF4-FFF2-40B4-BE49-F238E27FC236}">
                  <a16:creationId xmlns:a16="http://schemas.microsoft.com/office/drawing/2014/main" id="{75E55049-DE9B-98AC-BB13-FCA1570B68F3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5" name="Полилиния: фигура 25">
              <a:extLst>
                <a:ext uri="{FF2B5EF4-FFF2-40B4-BE49-F238E27FC236}">
                  <a16:creationId xmlns:a16="http://schemas.microsoft.com/office/drawing/2014/main" id="{CF905F48-77CA-03E7-97ED-1F92F9A828BD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6" name="Полилиния: фигура 26">
              <a:extLst>
                <a:ext uri="{FF2B5EF4-FFF2-40B4-BE49-F238E27FC236}">
                  <a16:creationId xmlns:a16="http://schemas.microsoft.com/office/drawing/2014/main" id="{CEBF0B75-055D-4965-772F-47AD1E433B65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7" name="Полилиния: фигура 27">
              <a:extLst>
                <a:ext uri="{FF2B5EF4-FFF2-40B4-BE49-F238E27FC236}">
                  <a16:creationId xmlns:a16="http://schemas.microsoft.com/office/drawing/2014/main" id="{F00C9732-1E60-E852-DA70-EE392525EF29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8" name="Полилиния: фигура 28">
              <a:extLst>
                <a:ext uri="{FF2B5EF4-FFF2-40B4-BE49-F238E27FC236}">
                  <a16:creationId xmlns:a16="http://schemas.microsoft.com/office/drawing/2014/main" id="{5AFC5E81-BD49-8854-AE72-7FFF0DE9D257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9" name="Полилиния: фигура 29">
              <a:extLst>
                <a:ext uri="{FF2B5EF4-FFF2-40B4-BE49-F238E27FC236}">
                  <a16:creationId xmlns:a16="http://schemas.microsoft.com/office/drawing/2014/main" id="{476EA956-DA6E-38F4-E41E-39CD4275DD9C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0" name="Полилиния: фигура 30">
              <a:extLst>
                <a:ext uri="{FF2B5EF4-FFF2-40B4-BE49-F238E27FC236}">
                  <a16:creationId xmlns:a16="http://schemas.microsoft.com/office/drawing/2014/main" id="{38BA4330-968A-CD08-C32A-1AB62BA4060E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1" name="Полилиния: фигура 31">
              <a:extLst>
                <a:ext uri="{FF2B5EF4-FFF2-40B4-BE49-F238E27FC236}">
                  <a16:creationId xmlns:a16="http://schemas.microsoft.com/office/drawing/2014/main" id="{139C8CA0-F4D9-106C-2539-EAC9FFE03A98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pic>
          <p:nvPicPr>
            <p:cNvPr id="142" name="Рисунок 141">
              <a:extLst>
                <a:ext uri="{FF2B5EF4-FFF2-40B4-BE49-F238E27FC236}">
                  <a16:creationId xmlns:a16="http://schemas.microsoft.com/office/drawing/2014/main" id="{B710F069-E351-BE87-1018-2661A76A8FC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43" name="Полилиния: фигура 33">
              <a:extLst>
                <a:ext uri="{FF2B5EF4-FFF2-40B4-BE49-F238E27FC236}">
                  <a16:creationId xmlns:a16="http://schemas.microsoft.com/office/drawing/2014/main" id="{71E4939B-0E00-8909-8012-C8043D8DCAD7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4" name="Полилиния: фигура 34">
              <a:extLst>
                <a:ext uri="{FF2B5EF4-FFF2-40B4-BE49-F238E27FC236}">
                  <a16:creationId xmlns:a16="http://schemas.microsoft.com/office/drawing/2014/main" id="{5C4DB02A-9E60-644A-BD04-122262EA9CF5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5" name="Полилиния: фигура 35">
              <a:extLst>
                <a:ext uri="{FF2B5EF4-FFF2-40B4-BE49-F238E27FC236}">
                  <a16:creationId xmlns:a16="http://schemas.microsoft.com/office/drawing/2014/main" id="{A8C103F3-04F0-28A6-D985-85A41641334F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6" name="Полилиния: фигура 36">
              <a:extLst>
                <a:ext uri="{FF2B5EF4-FFF2-40B4-BE49-F238E27FC236}">
                  <a16:creationId xmlns:a16="http://schemas.microsoft.com/office/drawing/2014/main" id="{672B7A39-41AC-BB07-5409-21F650DF0E89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47" name="Группа 146">
            <a:extLst>
              <a:ext uri="{FF2B5EF4-FFF2-40B4-BE49-F238E27FC236}">
                <a16:creationId xmlns:a16="http://schemas.microsoft.com/office/drawing/2014/main" id="{6F6876AF-B1D2-D1B1-91CC-C9E4B6B41445}"/>
              </a:ext>
            </a:extLst>
          </p:cNvPr>
          <p:cNvGrpSpPr/>
          <p:nvPr/>
        </p:nvGrpSpPr>
        <p:grpSpPr>
          <a:xfrm>
            <a:off x="3730724" y="1096813"/>
            <a:ext cx="1821822" cy="3745203"/>
            <a:chOff x="5193506" y="1574006"/>
            <a:chExt cx="1802607" cy="3705701"/>
          </a:xfrm>
        </p:grpSpPr>
        <p:sp>
          <p:nvSpPr>
            <p:cNvPr id="148" name="Полилиния: фигура 13">
              <a:extLst>
                <a:ext uri="{FF2B5EF4-FFF2-40B4-BE49-F238E27FC236}">
                  <a16:creationId xmlns:a16="http://schemas.microsoft.com/office/drawing/2014/main" id="{E8AC8241-89F5-74DB-F469-C2BA9BE0C024}"/>
                </a:ext>
              </a:extLst>
            </p:cNvPr>
            <p:cNvSpPr/>
            <p:nvPr/>
          </p:nvSpPr>
          <p:spPr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49" name="Полилиния: фигура 14">
              <a:extLst>
                <a:ext uri="{FF2B5EF4-FFF2-40B4-BE49-F238E27FC236}">
                  <a16:creationId xmlns:a16="http://schemas.microsoft.com/office/drawing/2014/main" id="{84434B8C-47C7-6BE9-D4B7-0B893BCC5BD5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50" name="Полилиния: фигура 15">
              <a:extLst>
                <a:ext uri="{FF2B5EF4-FFF2-40B4-BE49-F238E27FC236}">
                  <a16:creationId xmlns:a16="http://schemas.microsoft.com/office/drawing/2014/main" id="{5263283D-705A-5613-18ED-E80BDE52AFCA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1" name="Полилиния: фигура 16">
              <a:extLst>
                <a:ext uri="{FF2B5EF4-FFF2-40B4-BE49-F238E27FC236}">
                  <a16:creationId xmlns:a16="http://schemas.microsoft.com/office/drawing/2014/main" id="{744D4512-D838-3AD8-499E-05E6B87490C1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2" name="Полилиния: фигура 17">
              <a:extLst>
                <a:ext uri="{FF2B5EF4-FFF2-40B4-BE49-F238E27FC236}">
                  <a16:creationId xmlns:a16="http://schemas.microsoft.com/office/drawing/2014/main" id="{57B1D57F-7138-34E6-ADEF-6E34A735ABB4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3" name="Полилиния: фигура 18">
              <a:extLst>
                <a:ext uri="{FF2B5EF4-FFF2-40B4-BE49-F238E27FC236}">
                  <a16:creationId xmlns:a16="http://schemas.microsoft.com/office/drawing/2014/main" id="{F820A8CD-CB50-CF85-631E-0D2ABB0DA0AE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4" name="Полилиния: фигура 19">
              <a:extLst>
                <a:ext uri="{FF2B5EF4-FFF2-40B4-BE49-F238E27FC236}">
                  <a16:creationId xmlns:a16="http://schemas.microsoft.com/office/drawing/2014/main" id="{E04E2701-FE1E-5CC3-36AF-B4B9D29FD242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5" name="Полилиния: фигура 20">
              <a:extLst>
                <a:ext uri="{FF2B5EF4-FFF2-40B4-BE49-F238E27FC236}">
                  <a16:creationId xmlns:a16="http://schemas.microsoft.com/office/drawing/2014/main" id="{8CD1AA2D-A392-D1E3-DF78-0AEA26501DA0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6" name="Полилиния: фигура 21">
              <a:extLst>
                <a:ext uri="{FF2B5EF4-FFF2-40B4-BE49-F238E27FC236}">
                  <a16:creationId xmlns:a16="http://schemas.microsoft.com/office/drawing/2014/main" id="{2C59B60B-FC7B-96E9-43B4-E6248B35E7F8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7" name="Полилиния: фигура 22">
              <a:extLst>
                <a:ext uri="{FF2B5EF4-FFF2-40B4-BE49-F238E27FC236}">
                  <a16:creationId xmlns:a16="http://schemas.microsoft.com/office/drawing/2014/main" id="{C1F8F87E-2226-19FB-7129-485EFF2952F3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8" name="Полилиния: фигура 23">
              <a:extLst>
                <a:ext uri="{FF2B5EF4-FFF2-40B4-BE49-F238E27FC236}">
                  <a16:creationId xmlns:a16="http://schemas.microsoft.com/office/drawing/2014/main" id="{19CF104F-7F1A-9575-3974-58D1C393CB8C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9" name="Полилиния: фигура 24">
              <a:extLst>
                <a:ext uri="{FF2B5EF4-FFF2-40B4-BE49-F238E27FC236}">
                  <a16:creationId xmlns:a16="http://schemas.microsoft.com/office/drawing/2014/main" id="{08D91672-4E5C-7BA4-1CE5-A30F3A8D8B90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0" name="Полилиния: фигура 25">
              <a:extLst>
                <a:ext uri="{FF2B5EF4-FFF2-40B4-BE49-F238E27FC236}">
                  <a16:creationId xmlns:a16="http://schemas.microsoft.com/office/drawing/2014/main" id="{0E644CEA-C8F9-E939-4113-FFB9CC6A10CB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1" name="Полилиния: фигура 26">
              <a:extLst>
                <a:ext uri="{FF2B5EF4-FFF2-40B4-BE49-F238E27FC236}">
                  <a16:creationId xmlns:a16="http://schemas.microsoft.com/office/drawing/2014/main" id="{A9463AC2-3CBD-AD7F-C2FC-3E6B8898F615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2" name="Полилиния: фигура 27">
              <a:extLst>
                <a:ext uri="{FF2B5EF4-FFF2-40B4-BE49-F238E27FC236}">
                  <a16:creationId xmlns:a16="http://schemas.microsoft.com/office/drawing/2014/main" id="{A0B742DC-234C-DFDF-1731-F5483C135F77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3" name="Полилиния: фигура 28">
              <a:extLst>
                <a:ext uri="{FF2B5EF4-FFF2-40B4-BE49-F238E27FC236}">
                  <a16:creationId xmlns:a16="http://schemas.microsoft.com/office/drawing/2014/main" id="{295E8F4E-2D3F-0442-68E4-45516C2C0F73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4" name="Полилиния: фигура 29">
              <a:extLst>
                <a:ext uri="{FF2B5EF4-FFF2-40B4-BE49-F238E27FC236}">
                  <a16:creationId xmlns:a16="http://schemas.microsoft.com/office/drawing/2014/main" id="{EC3523CB-F469-D234-C98C-68A35D5DC1EE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5" name="Полилиния: фигура 30">
              <a:extLst>
                <a:ext uri="{FF2B5EF4-FFF2-40B4-BE49-F238E27FC236}">
                  <a16:creationId xmlns:a16="http://schemas.microsoft.com/office/drawing/2014/main" id="{C1E692C9-11C7-FD16-0691-269E9730C0D7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6" name="Полилиния: фигура 31">
              <a:extLst>
                <a:ext uri="{FF2B5EF4-FFF2-40B4-BE49-F238E27FC236}">
                  <a16:creationId xmlns:a16="http://schemas.microsoft.com/office/drawing/2014/main" id="{8A8BCBC3-F8B9-E268-FA91-BE0B91504CB7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pic>
          <p:nvPicPr>
            <p:cNvPr id="167" name="Рисунок 166">
              <a:extLst>
                <a:ext uri="{FF2B5EF4-FFF2-40B4-BE49-F238E27FC236}">
                  <a16:creationId xmlns:a16="http://schemas.microsoft.com/office/drawing/2014/main" id="{275DD60F-C19A-9738-1499-379E38B8933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68" name="Полилиния: фигура 33">
              <a:extLst>
                <a:ext uri="{FF2B5EF4-FFF2-40B4-BE49-F238E27FC236}">
                  <a16:creationId xmlns:a16="http://schemas.microsoft.com/office/drawing/2014/main" id="{0C1A32E6-71CE-D73A-D08C-E614CC7D3E3D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9" name="Полилиния: фигура 34">
              <a:extLst>
                <a:ext uri="{FF2B5EF4-FFF2-40B4-BE49-F238E27FC236}">
                  <a16:creationId xmlns:a16="http://schemas.microsoft.com/office/drawing/2014/main" id="{F634A189-F19F-9C70-5515-9E924535DC98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0" name="Полилиния: фигура 35">
              <a:extLst>
                <a:ext uri="{FF2B5EF4-FFF2-40B4-BE49-F238E27FC236}">
                  <a16:creationId xmlns:a16="http://schemas.microsoft.com/office/drawing/2014/main" id="{FEC821A6-0C1B-A5D1-4EE3-7BC96AF6DC8D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1" name="Полилиния: фигура 36">
              <a:extLst>
                <a:ext uri="{FF2B5EF4-FFF2-40B4-BE49-F238E27FC236}">
                  <a16:creationId xmlns:a16="http://schemas.microsoft.com/office/drawing/2014/main" id="{DCBB9EDB-AF53-F46A-71B2-6496483F87B8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72" name="Группа 171">
            <a:extLst>
              <a:ext uri="{FF2B5EF4-FFF2-40B4-BE49-F238E27FC236}">
                <a16:creationId xmlns:a16="http://schemas.microsoft.com/office/drawing/2014/main" id="{28B88200-E25B-E61C-1E68-2D2C2B01BCE5}"/>
              </a:ext>
            </a:extLst>
          </p:cNvPr>
          <p:cNvGrpSpPr/>
          <p:nvPr/>
        </p:nvGrpSpPr>
        <p:grpSpPr>
          <a:xfrm>
            <a:off x="6699146" y="1096813"/>
            <a:ext cx="1821822" cy="3745203"/>
            <a:chOff x="5193506" y="1574006"/>
            <a:chExt cx="1802607" cy="3705701"/>
          </a:xfrm>
        </p:grpSpPr>
        <p:sp>
          <p:nvSpPr>
            <p:cNvPr id="173" name="Полилиния: фигура 13">
              <a:extLst>
                <a:ext uri="{FF2B5EF4-FFF2-40B4-BE49-F238E27FC236}">
                  <a16:creationId xmlns:a16="http://schemas.microsoft.com/office/drawing/2014/main" id="{A9CDA20E-DC0B-7574-8A53-2FE5A69E3137}"/>
                </a:ext>
              </a:extLst>
            </p:cNvPr>
            <p:cNvSpPr/>
            <p:nvPr/>
          </p:nvSpPr>
          <p:spPr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4" name="Полилиния: фигура 14">
              <a:extLst>
                <a:ext uri="{FF2B5EF4-FFF2-40B4-BE49-F238E27FC236}">
                  <a16:creationId xmlns:a16="http://schemas.microsoft.com/office/drawing/2014/main" id="{C6EDF764-F67B-E72A-96F7-9AD40839714F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5" name="Полилиния: фигура 15">
              <a:extLst>
                <a:ext uri="{FF2B5EF4-FFF2-40B4-BE49-F238E27FC236}">
                  <a16:creationId xmlns:a16="http://schemas.microsoft.com/office/drawing/2014/main" id="{3FAA0615-8C83-2C58-58C1-270E46BD11DD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6" name="Полилиния: фигура 16">
              <a:extLst>
                <a:ext uri="{FF2B5EF4-FFF2-40B4-BE49-F238E27FC236}">
                  <a16:creationId xmlns:a16="http://schemas.microsoft.com/office/drawing/2014/main" id="{6DA7610E-8695-F698-FBE5-F1EA1A34BCA3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7" name="Полилиния: фигура 17">
              <a:extLst>
                <a:ext uri="{FF2B5EF4-FFF2-40B4-BE49-F238E27FC236}">
                  <a16:creationId xmlns:a16="http://schemas.microsoft.com/office/drawing/2014/main" id="{C2B0886E-C1A1-F8FB-DE0A-7E00B1A70124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8" name="Полилиния: фигура 18">
              <a:extLst>
                <a:ext uri="{FF2B5EF4-FFF2-40B4-BE49-F238E27FC236}">
                  <a16:creationId xmlns:a16="http://schemas.microsoft.com/office/drawing/2014/main" id="{F6E82E9D-82A0-F318-F846-F9AA582ADCE6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9" name="Полилиния: фигура 19">
              <a:extLst>
                <a:ext uri="{FF2B5EF4-FFF2-40B4-BE49-F238E27FC236}">
                  <a16:creationId xmlns:a16="http://schemas.microsoft.com/office/drawing/2014/main" id="{6CD40789-5D3D-6EE9-2675-745C2BDC6538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0" name="Полилиния: фигура 20">
              <a:extLst>
                <a:ext uri="{FF2B5EF4-FFF2-40B4-BE49-F238E27FC236}">
                  <a16:creationId xmlns:a16="http://schemas.microsoft.com/office/drawing/2014/main" id="{158DFE1D-B6C8-7D8D-1E07-17C4E0EEF550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1" name="Полилиния: фигура 21">
              <a:extLst>
                <a:ext uri="{FF2B5EF4-FFF2-40B4-BE49-F238E27FC236}">
                  <a16:creationId xmlns:a16="http://schemas.microsoft.com/office/drawing/2014/main" id="{D8DEFA81-42B3-5DA3-7630-FDBDF31D670E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2" name="Полилиния: фигура 22">
              <a:extLst>
                <a:ext uri="{FF2B5EF4-FFF2-40B4-BE49-F238E27FC236}">
                  <a16:creationId xmlns:a16="http://schemas.microsoft.com/office/drawing/2014/main" id="{BB1811A3-3629-FDD8-6775-7826417B17BB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3" name="Полилиния: фигура 23">
              <a:extLst>
                <a:ext uri="{FF2B5EF4-FFF2-40B4-BE49-F238E27FC236}">
                  <a16:creationId xmlns:a16="http://schemas.microsoft.com/office/drawing/2014/main" id="{0C885996-2D3E-94A9-F80B-759C2B77BEFD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4" name="Полилиния: фигура 24">
              <a:extLst>
                <a:ext uri="{FF2B5EF4-FFF2-40B4-BE49-F238E27FC236}">
                  <a16:creationId xmlns:a16="http://schemas.microsoft.com/office/drawing/2014/main" id="{7A637849-F366-366B-2B72-613C030A10ED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5" name="Полилиния: фигура 25">
              <a:extLst>
                <a:ext uri="{FF2B5EF4-FFF2-40B4-BE49-F238E27FC236}">
                  <a16:creationId xmlns:a16="http://schemas.microsoft.com/office/drawing/2014/main" id="{110EFEA7-7F4A-95B8-43B8-6F88654392F3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6" name="Полилиния: фигура 26">
              <a:extLst>
                <a:ext uri="{FF2B5EF4-FFF2-40B4-BE49-F238E27FC236}">
                  <a16:creationId xmlns:a16="http://schemas.microsoft.com/office/drawing/2014/main" id="{6775B6E1-3AE7-DCB7-993C-A3BB57DEB079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7" name="Полилиния: фигура 27">
              <a:extLst>
                <a:ext uri="{FF2B5EF4-FFF2-40B4-BE49-F238E27FC236}">
                  <a16:creationId xmlns:a16="http://schemas.microsoft.com/office/drawing/2014/main" id="{A1B076D4-6F0A-6994-8304-90264BE47B6C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8" name="Полилиния: фигура 28">
              <a:extLst>
                <a:ext uri="{FF2B5EF4-FFF2-40B4-BE49-F238E27FC236}">
                  <a16:creationId xmlns:a16="http://schemas.microsoft.com/office/drawing/2014/main" id="{03D70E49-6A46-60F0-235C-230EB8697FFF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9" name="Полилиния: фигура 29">
              <a:extLst>
                <a:ext uri="{FF2B5EF4-FFF2-40B4-BE49-F238E27FC236}">
                  <a16:creationId xmlns:a16="http://schemas.microsoft.com/office/drawing/2014/main" id="{638DC947-2E6A-E1E4-48C6-C82F296AF48F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0" name="Полилиния: фигура 30">
              <a:extLst>
                <a:ext uri="{FF2B5EF4-FFF2-40B4-BE49-F238E27FC236}">
                  <a16:creationId xmlns:a16="http://schemas.microsoft.com/office/drawing/2014/main" id="{2133978C-A68D-962F-7B3F-8C121D583304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1" name="Полилиния: фигура 31">
              <a:extLst>
                <a:ext uri="{FF2B5EF4-FFF2-40B4-BE49-F238E27FC236}">
                  <a16:creationId xmlns:a16="http://schemas.microsoft.com/office/drawing/2014/main" id="{E7337AD2-C975-8EEA-309F-C9BEC7D9B80A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pic>
          <p:nvPicPr>
            <p:cNvPr id="192" name="Рисунок 191">
              <a:extLst>
                <a:ext uri="{FF2B5EF4-FFF2-40B4-BE49-F238E27FC236}">
                  <a16:creationId xmlns:a16="http://schemas.microsoft.com/office/drawing/2014/main" id="{EBC94221-5003-CC9C-1BA6-39584F78BA5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93" name="Полилиния: фигура 33">
              <a:extLst>
                <a:ext uri="{FF2B5EF4-FFF2-40B4-BE49-F238E27FC236}">
                  <a16:creationId xmlns:a16="http://schemas.microsoft.com/office/drawing/2014/main" id="{D717B4FB-A27A-CAA6-3D77-01AD01672953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4" name="Полилиния: фигура 34">
              <a:extLst>
                <a:ext uri="{FF2B5EF4-FFF2-40B4-BE49-F238E27FC236}">
                  <a16:creationId xmlns:a16="http://schemas.microsoft.com/office/drawing/2014/main" id="{34C8B6EF-76B0-66A8-48F8-451128B8EF55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5" name="Полилиния: фигура 35">
              <a:extLst>
                <a:ext uri="{FF2B5EF4-FFF2-40B4-BE49-F238E27FC236}">
                  <a16:creationId xmlns:a16="http://schemas.microsoft.com/office/drawing/2014/main" id="{C4E22E47-5653-9FC4-E418-B13F750799A0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6" name="Полилиния: фигура 36">
              <a:extLst>
                <a:ext uri="{FF2B5EF4-FFF2-40B4-BE49-F238E27FC236}">
                  <a16:creationId xmlns:a16="http://schemas.microsoft.com/office/drawing/2014/main" id="{288CF8AC-8E86-147B-676C-4A0A4618F6E0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97" name="Группа 196">
            <a:extLst>
              <a:ext uri="{FF2B5EF4-FFF2-40B4-BE49-F238E27FC236}">
                <a16:creationId xmlns:a16="http://schemas.microsoft.com/office/drawing/2014/main" id="{09B9B184-25F2-7359-333D-5EB9A60B8EFD}"/>
              </a:ext>
            </a:extLst>
          </p:cNvPr>
          <p:cNvGrpSpPr/>
          <p:nvPr/>
        </p:nvGrpSpPr>
        <p:grpSpPr>
          <a:xfrm>
            <a:off x="9575248" y="1076308"/>
            <a:ext cx="1821822" cy="3745203"/>
            <a:chOff x="5193506" y="1574006"/>
            <a:chExt cx="1802607" cy="3705701"/>
          </a:xfrm>
        </p:grpSpPr>
        <p:sp>
          <p:nvSpPr>
            <p:cNvPr id="198" name="Полилиния: фигура 13">
              <a:extLst>
                <a:ext uri="{FF2B5EF4-FFF2-40B4-BE49-F238E27FC236}">
                  <a16:creationId xmlns:a16="http://schemas.microsoft.com/office/drawing/2014/main" id="{E3F377FC-00D5-EF59-5B13-016CF3D10D8E}"/>
                </a:ext>
              </a:extLst>
            </p:cNvPr>
            <p:cNvSpPr/>
            <p:nvPr/>
          </p:nvSpPr>
          <p:spPr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99" name="Полилиния: фигура 14">
              <a:extLst>
                <a:ext uri="{FF2B5EF4-FFF2-40B4-BE49-F238E27FC236}">
                  <a16:creationId xmlns:a16="http://schemas.microsoft.com/office/drawing/2014/main" id="{FC792052-29C1-6D35-7F6B-79A599C639D7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00" name="Полилиния: фигура 15">
              <a:extLst>
                <a:ext uri="{FF2B5EF4-FFF2-40B4-BE49-F238E27FC236}">
                  <a16:creationId xmlns:a16="http://schemas.microsoft.com/office/drawing/2014/main" id="{E5A98475-EA25-67D6-4D5F-15BF00331AEB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1" name="Полилиния: фигура 16">
              <a:extLst>
                <a:ext uri="{FF2B5EF4-FFF2-40B4-BE49-F238E27FC236}">
                  <a16:creationId xmlns:a16="http://schemas.microsoft.com/office/drawing/2014/main" id="{81E5799A-EDA9-923F-4306-CDB07B346B8B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02" name="Полилиния: фигура 17">
              <a:extLst>
                <a:ext uri="{FF2B5EF4-FFF2-40B4-BE49-F238E27FC236}">
                  <a16:creationId xmlns:a16="http://schemas.microsoft.com/office/drawing/2014/main" id="{C8C06C37-DF23-F749-53E7-43DD5F9A34DA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3" name="Полилиния: фигура 18">
              <a:extLst>
                <a:ext uri="{FF2B5EF4-FFF2-40B4-BE49-F238E27FC236}">
                  <a16:creationId xmlns:a16="http://schemas.microsoft.com/office/drawing/2014/main" id="{18AB0B4B-8AF4-3CED-546E-8A0EDD0343AA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4" name="Полилиния: фигура 19">
              <a:extLst>
                <a:ext uri="{FF2B5EF4-FFF2-40B4-BE49-F238E27FC236}">
                  <a16:creationId xmlns:a16="http://schemas.microsoft.com/office/drawing/2014/main" id="{A09F4E37-B8CD-2EF9-2BDD-679C42F718DF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5" name="Полилиния: фигура 20">
              <a:extLst>
                <a:ext uri="{FF2B5EF4-FFF2-40B4-BE49-F238E27FC236}">
                  <a16:creationId xmlns:a16="http://schemas.microsoft.com/office/drawing/2014/main" id="{9D8C252F-C832-C60B-67B3-B6D013188DB3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6" name="Полилиния: фигура 21">
              <a:extLst>
                <a:ext uri="{FF2B5EF4-FFF2-40B4-BE49-F238E27FC236}">
                  <a16:creationId xmlns:a16="http://schemas.microsoft.com/office/drawing/2014/main" id="{FA7900B1-7A25-63CF-0588-70A25C00B663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7" name="Полилиния: фигура 22">
              <a:extLst>
                <a:ext uri="{FF2B5EF4-FFF2-40B4-BE49-F238E27FC236}">
                  <a16:creationId xmlns:a16="http://schemas.microsoft.com/office/drawing/2014/main" id="{EFB55E02-77C2-7DAA-FBBD-AAD9F92F0831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8" name="Полилиния: фигура 23">
              <a:extLst>
                <a:ext uri="{FF2B5EF4-FFF2-40B4-BE49-F238E27FC236}">
                  <a16:creationId xmlns:a16="http://schemas.microsoft.com/office/drawing/2014/main" id="{30535304-E628-32AB-C6BA-19E520C656BF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9" name="Полилиния: фигура 24">
              <a:extLst>
                <a:ext uri="{FF2B5EF4-FFF2-40B4-BE49-F238E27FC236}">
                  <a16:creationId xmlns:a16="http://schemas.microsoft.com/office/drawing/2014/main" id="{78104E2D-A620-47E2-40F3-A995004EE446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0" name="Полилиния: фигура 25">
              <a:extLst>
                <a:ext uri="{FF2B5EF4-FFF2-40B4-BE49-F238E27FC236}">
                  <a16:creationId xmlns:a16="http://schemas.microsoft.com/office/drawing/2014/main" id="{8EB92C67-7F68-803C-FB9E-2D13E650E6A1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1" name="Полилиния: фигура 26">
              <a:extLst>
                <a:ext uri="{FF2B5EF4-FFF2-40B4-BE49-F238E27FC236}">
                  <a16:creationId xmlns:a16="http://schemas.microsoft.com/office/drawing/2014/main" id="{3E0B4E90-F08C-B5ED-761E-838F2F9D531E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2" name="Полилиния: фигура 27">
              <a:extLst>
                <a:ext uri="{FF2B5EF4-FFF2-40B4-BE49-F238E27FC236}">
                  <a16:creationId xmlns:a16="http://schemas.microsoft.com/office/drawing/2014/main" id="{B6C8B631-B5E5-473B-FD01-2491F51BF4AA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3" name="Полилиния: фигура 28">
              <a:extLst>
                <a:ext uri="{FF2B5EF4-FFF2-40B4-BE49-F238E27FC236}">
                  <a16:creationId xmlns:a16="http://schemas.microsoft.com/office/drawing/2014/main" id="{380F7E94-40B3-49EA-38A2-A4683915276E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4" name="Полилиния: фигура 29">
              <a:extLst>
                <a:ext uri="{FF2B5EF4-FFF2-40B4-BE49-F238E27FC236}">
                  <a16:creationId xmlns:a16="http://schemas.microsoft.com/office/drawing/2014/main" id="{F9385ADB-6D1B-C79D-F5BB-B03F408AFC6C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5" name="Полилиния: фигура 30">
              <a:extLst>
                <a:ext uri="{FF2B5EF4-FFF2-40B4-BE49-F238E27FC236}">
                  <a16:creationId xmlns:a16="http://schemas.microsoft.com/office/drawing/2014/main" id="{00D97A09-43D0-4152-831C-C7744B4FE7E6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6" name="Полилиния: фигура 31">
              <a:extLst>
                <a:ext uri="{FF2B5EF4-FFF2-40B4-BE49-F238E27FC236}">
                  <a16:creationId xmlns:a16="http://schemas.microsoft.com/office/drawing/2014/main" id="{83CFD5B5-DF45-F681-5596-E631C837531E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pic>
          <p:nvPicPr>
            <p:cNvPr id="217" name="Рисунок 216">
              <a:extLst>
                <a:ext uri="{FF2B5EF4-FFF2-40B4-BE49-F238E27FC236}">
                  <a16:creationId xmlns:a16="http://schemas.microsoft.com/office/drawing/2014/main" id="{5AED15A4-4D29-1A14-4213-148543BBC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218" name="Полилиния: фигура 33">
              <a:extLst>
                <a:ext uri="{FF2B5EF4-FFF2-40B4-BE49-F238E27FC236}">
                  <a16:creationId xmlns:a16="http://schemas.microsoft.com/office/drawing/2014/main" id="{D613CEB1-BB3C-206D-6D01-E1CB7887B429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9" name="Полилиния: фигура 34">
              <a:extLst>
                <a:ext uri="{FF2B5EF4-FFF2-40B4-BE49-F238E27FC236}">
                  <a16:creationId xmlns:a16="http://schemas.microsoft.com/office/drawing/2014/main" id="{69F35FD4-E9E3-2671-1E63-C0ECA01A6C97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0" name="Полилиния: фигура 35">
              <a:extLst>
                <a:ext uri="{FF2B5EF4-FFF2-40B4-BE49-F238E27FC236}">
                  <a16:creationId xmlns:a16="http://schemas.microsoft.com/office/drawing/2014/main" id="{6DDAF0B9-15C9-D0FE-7E34-9051A84DDBB8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1" name="Полилиния: фигура 36">
              <a:extLst>
                <a:ext uri="{FF2B5EF4-FFF2-40B4-BE49-F238E27FC236}">
                  <a16:creationId xmlns:a16="http://schemas.microsoft.com/office/drawing/2014/main" id="{BB968C32-6E31-7C3C-54D5-B0EED92672B1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3" name="Заголовок 13">
            <a:extLst>
              <a:ext uri="{FF2B5EF4-FFF2-40B4-BE49-F238E27FC236}">
                <a16:creationId xmlns:a16="http://schemas.microsoft.com/office/drawing/2014/main" id="{CB78984E-BF6A-592D-77E7-74F307B32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КЛЮЧЕВЫЕ </a:t>
            </a:r>
            <a:r>
              <a:rPr lang="en-US"/>
              <a:t>UX/UI </a:t>
            </a:r>
            <a:r>
              <a:rPr lang="ru-RU"/>
              <a:t>РЕШЕНИЯ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3772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D181C43B-81A7-CE1F-8FD8-59408853402A}"/>
              </a:ext>
            </a:extLst>
          </p:cNvPr>
          <p:cNvSpPr/>
          <p:nvPr/>
        </p:nvSpPr>
        <p:spPr>
          <a:xfrm>
            <a:off x="346075" y="266006"/>
            <a:ext cx="5354638" cy="6331643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1A398F8-7100-0AC0-7CC3-53622EA34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8E8540A-FBD5-3747-09FA-CD79C4EC2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040" y="496888"/>
            <a:ext cx="4781233" cy="415925"/>
          </a:xfrm>
        </p:spPr>
        <p:txBody>
          <a:bodyPr wrap="square">
            <a:normAutofit/>
          </a:bodyPr>
          <a:lstStyle/>
          <a:p>
            <a:r>
              <a:rPr lang="ru-RU" sz="2000">
                <a:solidFill>
                  <a:schemeClr val="accent5"/>
                </a:solidFill>
              </a:rPr>
              <a:t>АРХИТЕКТУРА И СТЕК</a:t>
            </a:r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53FFDF6-D432-8336-B879-D98A3341FC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5433" y="1143695"/>
            <a:ext cx="4807840" cy="4717356"/>
          </a:xfrm>
        </p:spPr>
        <p:txBody>
          <a:bodyPr>
            <a:normAutofit/>
          </a:bodyPr>
          <a:lstStyle/>
          <a:p>
            <a:pPr>
              <a:spcAft>
                <a:spcPts val="900"/>
              </a:spcAft>
            </a:pPr>
            <a:r>
              <a:rPr lang="ru-RU">
                <a:solidFill>
                  <a:schemeClr val="tx1"/>
                </a:solidFill>
              </a:rPr>
              <a:t>Стек: HTML, CSS и JavaScript без фреймворков, Capacitor 8 для Android</a:t>
            </a:r>
          </a:p>
          <a:p>
            <a:pPr>
              <a:spcAft>
                <a:spcPts val="900"/>
              </a:spcAft>
            </a:pPr>
            <a:r>
              <a:rPr lang="ru-RU">
                <a:solidFill>
                  <a:schemeClr val="tx1"/>
                </a:solidFill>
              </a:rPr>
              <a:t>Логика игры в game.js отделена от экранов и покрыта тестами</a:t>
            </a:r>
          </a:p>
          <a:p>
            <a:pPr>
              <a:spcAft>
                <a:spcPts val="900"/>
              </a:spcAft>
            </a:pPr>
            <a:r>
              <a:rPr lang="ru-RU">
                <a:solidFill>
                  <a:schemeClr val="tx1"/>
                </a:solidFill>
              </a:rPr>
              <a:t>Контент в 8 файлах JSON: задания, товары, цели, переписки</a:t>
            </a:r>
          </a:p>
          <a:p>
            <a:pPr>
              <a:spcAft>
                <a:spcPts val="900"/>
              </a:spcAft>
            </a:pPr>
            <a:r>
              <a:rPr lang="ru-RU">
                <a:solidFill>
                  <a:schemeClr val="tx1"/>
                </a:solidFill>
              </a:rPr>
              <a:t>Хранение в localStorage на устройстве, сохранение после каждого действия</a:t>
            </a:r>
          </a:p>
          <a:p>
            <a:pPr>
              <a:spcAft>
                <a:spcPts val="900"/>
              </a:spcAft>
            </a:pPr>
            <a:r>
              <a:rPr lang="ru-RU">
                <a:solidFill>
                  <a:schemeClr val="tx1"/>
                </a:solidFill>
              </a:rPr>
              <a:t>Android 8.0+, одно разрешение INTERNET для WebView, внешних запросов нет</a:t>
            </a:r>
          </a:p>
          <a:p>
            <a:pPr>
              <a:spcAft>
                <a:spcPts val="900"/>
              </a:spcAft>
            </a:pPr>
            <a:r>
              <a:rPr lang="ru-RU">
                <a:solidFill>
                  <a:schemeClr val="tx1"/>
                </a:solidFill>
              </a:rPr>
              <a:t>Веб-версия из той же папки, работает офлайн через service worker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1D511385-8860-4983-AE55-ADDFC079106D}"/>
              </a:ext>
            </a:extLst>
          </p:cNvPr>
          <p:cNvSpPr/>
          <p:nvPr/>
        </p:nvSpPr>
        <p:spPr>
          <a:xfrm>
            <a:off x="6350000" y="889000"/>
            <a:ext cx="5461000" cy="5080000"/>
          </a:xfrm>
          <a:prstGeom prst="roundRect">
            <a:avLst>
              <a:gd name="adj" fmla="val 6000"/>
            </a:avLst>
          </a:prstGeom>
          <a:solidFill>
            <a:srgbClr val="FFFFFF">
              <a:alpha val="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bg1">
                    <a:alpha val="47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D8CD8B7-DEF8-4514-8700-B7A16261E83C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2400" y="1572087"/>
            <a:ext cx="5156200" cy="3713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716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2BB59-6E27-43D2-BF3A-1879F75E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/>
          <p:nvPr/>
        </p:nvSpPr>
        <p:spPr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/>
          <p:nvPr/>
        </p:nvSpPr>
        <p:spPr>
          <a:xfrm>
            <a:off x="836595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/>
          <p:nvPr/>
        </p:nvSpPr>
        <p:spPr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5DF4935E-10E9-5CA8-85EF-08A77383EBE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0565" y="2493074"/>
            <a:ext cx="2965634" cy="423628"/>
          </a:xfrm>
        </p:spPr>
        <p:txBody>
          <a:bodyPr wrap="square">
            <a:normAutofit/>
          </a:bodyPr>
          <a:lstStyle/>
          <a:p>
            <a:r>
              <a:rPr lang="ru-RU" sz="1800">
                <a:solidFill>
                  <a:srgbClr val="F92571"/>
                </a:solidFill>
              </a:rPr>
              <a:t>Тестирование</a:t>
            </a:r>
            <a:endParaRPr lang="ru-RU" sz="1800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3156EE-B99A-3E1C-1DFF-C779A3E1B5D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0565" y="3128740"/>
            <a:ext cx="2965633" cy="2797928"/>
          </a:xfrm>
        </p:spPr>
        <p:txBody>
          <a:bodyPr wrap="square">
            <a:normAutofit/>
          </a:bodyPr>
          <a:lstStyle/>
          <a:p>
            <a:r>
              <a:rPr lang="ru-RU">
                <a:solidFill>
                  <a:schemeClr val="tx1"/>
                </a:solidFill>
              </a:rPr>
              <a:t>73 автотеста логики и контента. Сквозной сценарий на 5 недель в Chrome на экране 360 dp без ошибок. Подпись APK проверена apksigner.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C5649E-E208-17C2-F091-5482CC2FD51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623178" y="2493074"/>
            <a:ext cx="3034896" cy="403756"/>
          </a:xfrm>
        </p:spPr>
        <p:txBody>
          <a:bodyPr wrap="square">
            <a:normAutofit/>
          </a:bodyPr>
          <a:lstStyle/>
          <a:p>
            <a:r>
              <a:rPr lang="ru-RU" sz="1800">
                <a:solidFill>
                  <a:srgbClr val="F92571"/>
                </a:solidFill>
              </a:rPr>
              <a:t>Ограничения</a:t>
            </a:r>
            <a:endParaRPr lang="ru-RU" sz="1800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6AED36-1714-5896-5E97-ECA75EAA24C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623178" y="3128740"/>
            <a:ext cx="3034896" cy="2797928"/>
          </a:xfrm>
        </p:spPr>
        <p:txBody>
          <a:bodyPr wrap="square">
            <a:normAutofit/>
          </a:bodyPr>
          <a:lstStyle/>
          <a:p>
            <a:r>
              <a:rPr lang="ru-RU">
                <a:solidFill>
                  <a:schemeClr val="tx1"/>
                </a:solidFill>
              </a:rPr>
              <a:t>Один профиль на устройство. Данные пропадут при очистке данных приложения. Нет озвучки текстов. Проверка на физических устройствах продолжается.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B578740-7F02-5606-0701-43CBE42E617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547959" y="2493074"/>
            <a:ext cx="2945464" cy="403913"/>
          </a:xfrm>
        </p:spPr>
        <p:txBody>
          <a:bodyPr wrap="square">
            <a:normAutofit/>
          </a:bodyPr>
          <a:lstStyle/>
          <a:p>
            <a:r>
              <a:rPr lang="ru-RU" sz="1800">
                <a:solidFill>
                  <a:srgbClr val="F92571"/>
                </a:solidFill>
              </a:rPr>
              <a:t>Планы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143A847-7B5C-EA94-880E-65D8582653E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47959" y="3128740"/>
            <a:ext cx="2945464" cy="2797928"/>
          </a:xfrm>
        </p:spPr>
        <p:txBody>
          <a:bodyPr wrap="square">
            <a:normAutofit/>
          </a:bodyPr>
          <a:lstStyle/>
          <a:p>
            <a:r>
              <a:rPr lang="ru-RU">
                <a:solidFill>
                  <a:schemeClr val="tx1"/>
                </a:solidFill>
              </a:rPr>
              <a:t>Публикация в RuStore. Новые темы: долг, безопасные платежи, подарки. Озвучка для младших, несколько профилей, пилот в школах.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6" y="335426"/>
            <a:ext cx="11331221" cy="376138"/>
          </a:xfrm>
        </p:spPr>
        <p:txBody>
          <a:bodyPr/>
          <a:lstStyle/>
          <a:p>
            <a:r>
              <a:rPr lang="ru-RU">
                <a:solidFill>
                  <a:schemeClr val="accent5"/>
                </a:solidFill>
              </a:rPr>
              <a:t>ТЕСТЫ, ОГРАНИЧЕНИЯ, ПЛАНЫ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AEBED94-4F5F-339A-0CCE-082BCC33E92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80565" y="1772415"/>
            <a:ext cx="1311031" cy="601141"/>
          </a:xfrm>
        </p:spPr>
        <p:txBody>
          <a:bodyPr/>
          <a:lstStyle/>
          <a:p>
            <a:r>
              <a:rPr lang="ru-RU" sz="4400" b="1">
                <a:solidFill>
                  <a:schemeClr val="accent5"/>
                </a:solidFill>
              </a:rPr>
              <a:t>01</a:t>
            </a:r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01B288C6-447F-2720-CB9D-6F216BD0C554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615219" y="1766200"/>
            <a:ext cx="1311031" cy="572942"/>
          </a:xfrm>
        </p:spPr>
        <p:txBody>
          <a:bodyPr/>
          <a:lstStyle/>
          <a:p>
            <a:r>
              <a:rPr lang="ru-RU" sz="4400" b="1">
                <a:solidFill>
                  <a:schemeClr val="accent5"/>
                </a:solidFill>
              </a:rPr>
              <a:t>02</a:t>
            </a:r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78DB70E8-1110-C23C-1E37-53138E3F8F02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8547959" y="1766043"/>
            <a:ext cx="1311031" cy="573165"/>
          </a:xfrm>
        </p:spPr>
        <p:txBody>
          <a:bodyPr/>
          <a:lstStyle/>
          <a:p>
            <a:r>
              <a:rPr lang="ru-RU" sz="4400" b="1">
                <a:solidFill>
                  <a:schemeClr val="accent5"/>
                </a:solidFill>
              </a:rPr>
              <a:t>03</a:t>
            </a:r>
            <a:endParaRPr lang="ru-RU" sz="44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664B9-F30D-B51A-EC08-2389E212D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0060758-64A6-F41E-1825-51ECED521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90" y="370426"/>
            <a:ext cx="5562510" cy="442374"/>
          </a:xfrm>
        </p:spPr>
        <p:txBody>
          <a:bodyPr/>
          <a:lstStyle/>
          <a:p>
            <a:r>
              <a:rPr lang="ru-RU" sz="2000">
                <a:solidFill>
                  <a:schemeClr val="accent5"/>
                </a:solidFill>
              </a:rPr>
              <a:t>ССЫЛКИ</a:t>
            </a:r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2DB1C19-1756-5691-5F80-177F3A79D3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1133" y="1695025"/>
            <a:ext cx="7112000" cy="712587"/>
          </a:xfrm>
        </p:spPr>
        <p:txBody>
          <a:bodyPr wrap="square">
            <a:normAutofit/>
          </a:bodyPr>
          <a:lstStyle/>
          <a:p>
            <a:r>
              <a:rPr lang="ru-RU" b="1">
                <a:solidFill>
                  <a:schemeClr val="tx1"/>
                </a:solidFill>
              </a:rPr>
              <a:t>Репозиторий:</a:t>
            </a:r>
            <a:r>
              <a:rPr lang="ru-RU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github.com/ila2201/LCT_2026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40CC1337-8037-C8D6-4F63-245C2AF4E7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133" y="2552035"/>
            <a:ext cx="7112000" cy="712587"/>
          </a:xfrm>
        </p:spPr>
        <p:txBody>
          <a:bodyPr wrap="square">
            <a:normAutofit/>
          </a:bodyPr>
          <a:lstStyle/>
          <a:p>
            <a:r>
              <a:rPr lang="ru-RU" b="1">
                <a:solidFill>
                  <a:schemeClr val="tx1"/>
                </a:solidFill>
              </a:rPr>
              <a:t>Прототип в браузере:</a:t>
            </a:r>
            <a:r>
              <a:rPr lang="ru-RU">
                <a:solidFill>
                  <a:schemeClr val="tx1"/>
                </a:solidFill>
              </a:rPr>
              <a:t> </a:t>
            </a:r>
            <a:r>
              <a:rPr lang="it-IT">
                <a:solidFill>
                  <a:schemeClr val="tx1"/>
                </a:solidFill>
              </a:rPr>
              <a:t>ila2201.github.io/LCT_2026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35A27D79-7CA2-000D-5EC5-DB6887DB4E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133" y="3409044"/>
            <a:ext cx="7112000" cy="712587"/>
          </a:xfrm>
        </p:spPr>
        <p:txBody>
          <a:bodyPr wrap="square">
            <a:normAutofit/>
          </a:bodyPr>
          <a:lstStyle/>
          <a:p>
            <a:r>
              <a:rPr lang="ru-RU" b="1">
                <a:solidFill>
                  <a:schemeClr val="tx1"/>
                </a:solidFill>
              </a:rPr>
              <a:t>APK:</a:t>
            </a:r>
            <a:r>
              <a:rPr lang="ru-RU">
                <a:solidFill>
                  <a:schemeClr val="tx1"/>
                </a:solidFill>
              </a:rPr>
              <a:t> раздел Releases в репозитории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49701722-A703-6CF6-2014-059F040DC5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133" y="4266053"/>
            <a:ext cx="7112000" cy="712587"/>
          </a:xfrm>
        </p:spPr>
        <p:txBody>
          <a:bodyPr wrap="square">
            <a:normAutofit/>
          </a:bodyPr>
          <a:lstStyle/>
          <a:p>
            <a:r>
              <a:rPr lang="ru-RU" b="1">
                <a:solidFill>
                  <a:schemeClr val="tx1"/>
                </a:solidFill>
              </a:rPr>
              <a:t>Документация:</a:t>
            </a:r>
            <a:r>
              <a:rPr lang="ru-RU">
                <a:solidFill>
                  <a:schemeClr val="tx1"/>
                </a:solidFill>
              </a:rPr>
              <a:t> README.md и docs/Документация.pdf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DE50EEA6-DEC5-5666-7D6D-27F8E37664B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21133" y="5123063"/>
            <a:ext cx="7112000" cy="712587"/>
          </a:xfrm>
        </p:spPr>
        <p:txBody>
          <a:bodyPr wrap="square">
            <a:normAutofit/>
          </a:bodyPr>
          <a:lstStyle/>
          <a:p>
            <a:r>
              <a:rPr lang="ru-RU" b="1">
                <a:solidFill>
                  <a:schemeClr val="tx1"/>
                </a:solidFill>
              </a:rPr>
              <a:t>Видеодемонстрация:</a:t>
            </a:r>
            <a:r>
              <a:rPr lang="ru-RU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docs/demo.mp4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311126D8-C4EA-ED36-FA09-D0ED6388C8B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41475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15</a:t>
            </a:fld>
            <a:endParaRPr lang="ru-RU" dirty="0">
              <a:solidFill>
                <a:schemeClr val="accent5"/>
              </a:solidFill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C40756DD-053E-22C9-6492-BAE6C92C555E}"/>
              </a:ext>
            </a:extLst>
          </p:cNvPr>
          <p:cNvCxnSpPr>
            <a:cxnSpLocks/>
          </p:cNvCxnSpPr>
          <p:nvPr/>
        </p:nvCxnSpPr>
        <p:spPr>
          <a:xfrm>
            <a:off x="521133" y="1604660"/>
            <a:ext cx="74930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00DEE536-8C7E-5FF9-89E1-82A9988D844D}"/>
              </a:ext>
            </a:extLst>
          </p:cNvPr>
          <p:cNvCxnSpPr>
            <a:cxnSpLocks/>
          </p:cNvCxnSpPr>
          <p:nvPr/>
        </p:nvCxnSpPr>
        <p:spPr>
          <a:xfrm>
            <a:off x="521133" y="2465535"/>
            <a:ext cx="74930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7E52340B-BDE2-4108-BF09-DF1807F1208F}"/>
              </a:ext>
            </a:extLst>
          </p:cNvPr>
          <p:cNvCxnSpPr>
            <a:cxnSpLocks/>
          </p:cNvCxnSpPr>
          <p:nvPr/>
        </p:nvCxnSpPr>
        <p:spPr>
          <a:xfrm>
            <a:off x="521133" y="3342865"/>
            <a:ext cx="74930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9D24F87D-A790-746E-F6AE-485B863A9B3E}"/>
              </a:ext>
            </a:extLst>
          </p:cNvPr>
          <p:cNvCxnSpPr>
            <a:cxnSpLocks/>
          </p:cNvCxnSpPr>
          <p:nvPr/>
        </p:nvCxnSpPr>
        <p:spPr>
          <a:xfrm>
            <a:off x="521133" y="4183125"/>
            <a:ext cx="74930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319081A8-2E23-9ED5-DAF3-7F8B5653DD5D}"/>
              </a:ext>
            </a:extLst>
          </p:cNvPr>
          <p:cNvCxnSpPr>
            <a:cxnSpLocks/>
          </p:cNvCxnSpPr>
          <p:nvPr/>
        </p:nvCxnSpPr>
        <p:spPr>
          <a:xfrm>
            <a:off x="521133" y="5048098"/>
            <a:ext cx="74930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FDBA9E3-99FF-44AB-B0D1-1B2B32C674A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1905000"/>
            <a:ext cx="2794000" cy="27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793639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11023</TotalTime>
  <Words>1117</Words>
  <Application>Microsoft Office PowerPoint</Application>
  <PresentationFormat>Широкоэкранный</PresentationFormat>
  <Paragraphs>169</Paragraphs>
  <Slides>15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Calibri</vt:lpstr>
      <vt:lpstr>Montserrat</vt:lpstr>
      <vt:lpstr>Wingdings</vt:lpstr>
      <vt:lpstr>Для Академия инноваторов 16_9</vt:lpstr>
      <vt:lpstr>ПИТОМЕЦ ФИННИ</vt:lpstr>
      <vt:lpstr>Питомец Финни</vt:lpstr>
      <vt:lpstr>КОМАНДА CYBERCATS</vt:lpstr>
      <vt:lpstr>О КОМАНДЕ И ЗАДАЧЕ</vt:lpstr>
      <vt:lpstr>КОРОТКО О РЕШЕНИИ</vt:lpstr>
      <vt:lpstr>ПРОБЛЕМА И РЕШЕНИЕ</vt:lpstr>
      <vt:lpstr>ОБРАЗОВАТЕЛЬНЫЕ РЕЗУЛЬТАТЫ</vt:lpstr>
      <vt:lpstr>ПОЧЕМУ ПИТОМЕЦ</vt:lpstr>
      <vt:lpstr>ПУТЬ ПОЛЬЗОВАТЕЛЯ</vt:lpstr>
      <vt:lpstr>ИГРОВАЯ ЭКОНОМИКА</vt:lpstr>
      <vt:lpstr>ФУНКЦИИ И ГРАНИЦЫ</vt:lpstr>
      <vt:lpstr>КЛЮЧЕВЫЕ UX/UI РЕШЕНИЯ</vt:lpstr>
      <vt:lpstr>АРХИТЕКТУРА И СТЕК</vt:lpstr>
      <vt:lpstr>ТЕСТЫ, ОГРАНИЧЕНИЯ, ПЛАНЫ</vt:lpstr>
      <vt:lpstr>ССЫЛКИ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Илья</cp:lastModifiedBy>
  <cp:revision>97</cp:revision>
  <dcterms:created xsi:type="dcterms:W3CDTF">2023-05-15T07:36:23Z</dcterms:created>
  <dcterms:modified xsi:type="dcterms:W3CDTF">2026-09-28T17:24:17Z</dcterms:modified>
</cp:coreProperties>
</file>